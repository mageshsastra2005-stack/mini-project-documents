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  <p:sldId id="264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ExtraBold" panose="020B0604020202020204" charset="0"/>
      <p:bold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38632" y="2070794"/>
            <a:ext cx="754777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Black Hole Attack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 dirty="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Detection</a:t>
            </a:r>
            <a:r>
              <a:rPr lang="en-US" sz="4800" dirty="0">
                <a:solidFill>
                  <a:srgbClr val="11182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System using SVM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8009500" y="5078100"/>
            <a:ext cx="4035300" cy="12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Team Members: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Medium"/>
              <a:buAutoNum type="arabicPeriod"/>
            </a:pPr>
            <a:r>
              <a:rPr lang="en-US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Mageshwaran M - 127158029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Medium"/>
              <a:buAutoNum type="arabicPeriod"/>
            </a:pPr>
            <a:r>
              <a:rPr lang="en-US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Dhiyaneshwar P V - 127158010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Medium"/>
              <a:buAutoNum type="arabicPeriod"/>
            </a:pPr>
            <a:r>
              <a:rPr lang="en-US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Yuvanesh Sasikumar - 127158061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62000" y="517921"/>
            <a:ext cx="11201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62000" y="1222771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62000" y="1632346"/>
            <a:ext cx="60579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Mobile Ad-hoc Networks (MANETs) are decentralized and infrastructure-less, making </a:t>
            </a:r>
            <a:r>
              <a:rPr lang="en-US" sz="16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them</a:t>
            </a:r>
            <a:r>
              <a:rPr lang="en-US" sz="16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highly vulnerable to routing attacks.</a:t>
            </a:r>
            <a:endParaRPr dirty="0"/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1425" y="3795712"/>
            <a:ext cx="36385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47750" y="2752129"/>
            <a:ext cx="57721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Black Hole Attack:</a:t>
            </a:r>
            <a:r>
              <a:rPr lang="en-US" sz="16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 malicious node falsely advertises the shortest path to a destination during the route discovery process.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3948112"/>
            <a:ext cx="57721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lang="en-US" sz="16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Once the route is established, the node silently drops all data packets, causing 100% data loss and network disruption.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5144095"/>
            <a:ext cx="57721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lang="en-US" sz="1650" b="0" i="0" u="none" strike="noStrike" cap="none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Detecting these nodes in real-time without compromising network performance is difficult due to the dynamic topology.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656879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852862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048845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6375" y="2255175"/>
            <a:ext cx="4720851" cy="31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45096"/>
            <a:ext cx="5143500" cy="548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2700" y="1073372"/>
            <a:ext cx="5143500" cy="54822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130671"/>
            <a:ext cx="11201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Literature Survey &amp; Research Gap</a:t>
            </a:r>
            <a:endParaRPr dirty="0"/>
          </a:p>
        </p:txBody>
      </p:sp>
      <p:sp>
        <p:nvSpPr>
          <p:cNvPr id="109" name="Google Shape;109;p15"/>
          <p:cNvSpPr/>
          <p:nvPr/>
        </p:nvSpPr>
        <p:spPr>
          <a:xfrm>
            <a:off x="762000" y="835521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52525" y="1635621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Reference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1152525" y="2102346"/>
            <a:ext cx="4362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52525" y="2349996"/>
            <a:ext cx="4362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Abdallah et al. (2024)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International Information &amp; Engineering Technology Association (IIETA)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677025" y="1635621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Identified Gap Analysis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677025" y="2102346"/>
            <a:ext cx="4362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677025" y="2349996"/>
            <a:ext cx="4362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While theoretical models achieve high accuracy, current research lacks practical implementation tools.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1152525" y="3469778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Focus: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Proposed the ADS-SVM model (Anomaly Detection System using Support Vector Machines).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152525" y="4527053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Technique: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Utilized a Radial Basis Function (RBF) Kernel to handle non-linear data patterns.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52525" y="5279528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Key Result: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Achieved </a:t>
            </a: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99.96% detection accuracy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in controlled simulations.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77025" y="3619991"/>
            <a:ext cx="4362450" cy="152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Modern Integration:</a:t>
            </a:r>
            <a:r>
              <a:rPr lang="en-US" sz="1600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Lack of Python-based, lightweight implementations suitable for modern dashboards.</a:t>
            </a:r>
            <a:endParaRPr lang="en-US" sz="1600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6677025" y="4947586"/>
            <a:ext cx="43624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Visualization:</a:t>
            </a:r>
            <a:r>
              <a:rPr lang="en-US" sz="16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Absence of real-time visual feedback for immediate threat assessment.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85925"/>
            <a:ext cx="514350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85925"/>
            <a:ext cx="51435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571500"/>
            <a:ext cx="11201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  <a:endParaRPr dirty="0"/>
          </a:p>
        </p:txBody>
      </p:sp>
      <p:sp>
        <p:nvSpPr>
          <p:cNvPr id="129" name="Google Shape;129;p16"/>
          <p:cNvSpPr/>
          <p:nvPr/>
        </p:nvSpPr>
        <p:spPr>
          <a:xfrm>
            <a:off x="762000" y="1276350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2076450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Detection Engine (Backend)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1152525" y="2543175"/>
            <a:ext cx="4362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152525" y="2790825"/>
            <a:ext cx="4362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We will implement the </a:t>
            </a:r>
            <a:r>
              <a:rPr lang="en-US" sz="165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Support Vector Machine (SVM)</a:t>
            </a:r>
            <a:r>
              <a:rPr lang="en-US" sz="16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algorithm with an RBF kernel, as recommended by Abdallah et al.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77025" y="2076450"/>
            <a:ext cx="45805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Real-Time Monitor (Frontend)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677025" y="2543175"/>
            <a:ext cx="4362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677025" y="2790825"/>
            <a:ext cx="4362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live detection system bridging the gap between theory and practice.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52525" y="3910607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Packet Delivery Ratio (PDR) and Throughput.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52525" y="4663082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Training: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Using the UNR-IDD dataset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6677025" y="3575446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Capture: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Python </a:t>
            </a: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Scapy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library to sniff live network packets.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77025" y="4327921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Visualization: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dashboard to display network health and flag malicious IPs instantly.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4F8C-3149-7668-048C-6A66B4C36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2297"/>
            <a:ext cx="10375490" cy="80051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latin typeface="Inter" panose="020B0604020202020204" charset="0"/>
                <a:ea typeface="Inter" panose="020B0604020202020204" charset="0"/>
              </a:rPr>
              <a:t>Technical Implementation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CBCEE-C277-1554-BCC5-F757FEE59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1347017"/>
            <a:ext cx="10667999" cy="4961039"/>
          </a:xfrm>
        </p:spPr>
        <p:txBody>
          <a:bodyPr>
            <a:normAutofit/>
          </a:bodyPr>
          <a:lstStyle/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Dataset:</a:t>
            </a:r>
            <a:r>
              <a:rPr lang="en-US" altLang="en-US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Transitioned from NSL-KDD (Generic) to </a:t>
            </a:r>
            <a:r>
              <a:rPr lang="en-US" altLang="en-US" sz="18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UNR-IDD (Network Intrusion Dataset)</a:t>
            </a:r>
            <a:r>
              <a:rPr lang="en-US" altLang="en-US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for better SDN/MANET behavior relevance.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Core Model</a:t>
            </a:r>
            <a:r>
              <a:rPr lang="en-US" altLang="en-US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: SVM with Radial Basis Function (RBF) Kernel. 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Feature Engineering: </a:t>
            </a:r>
            <a:r>
              <a:rPr lang="en-US" altLang="en-US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Focused on 13 behavioral features (Deltas, Throughput, and Flow entries) to eliminate data leakage found in cumulative packet counts 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5400" indent="0" algn="l"/>
            <a:r>
              <a:rPr lang="en-US" altLang="en-US" sz="2400" b="1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Experimental Results (Current Stage): </a:t>
            </a:r>
            <a:r>
              <a:rPr lang="en-US" altLang="en-US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Model accuracy of 75.37% achieved after removing leaky cumulative features and room to improve.</a:t>
            </a:r>
          </a:p>
          <a:p>
            <a:pPr marL="25400" indent="0" algn="l"/>
            <a:endParaRPr lang="en-US" altLang="en-US"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25400" indent="0" algn="l"/>
            <a:endParaRPr lang="en-US" altLang="en-US" sz="18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Google Shape;145;p17">
            <a:extLst>
              <a:ext uri="{FF2B5EF4-FFF2-40B4-BE49-F238E27FC236}">
                <a16:creationId xmlns:a16="http://schemas.microsoft.com/office/drawing/2014/main" id="{42B27498-C566-2FD2-9407-89BB1F0AF135}"/>
              </a:ext>
            </a:extLst>
          </p:cNvPr>
          <p:cNvSpPr/>
          <p:nvPr/>
        </p:nvSpPr>
        <p:spPr>
          <a:xfrm>
            <a:off x="685800" y="1190625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9786C-381D-E4AC-89F8-608089C9B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01" y="4187659"/>
            <a:ext cx="721380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0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17">
            <a:extLst>
              <a:ext uri="{FF2B5EF4-FFF2-40B4-BE49-F238E27FC236}">
                <a16:creationId xmlns:a16="http://schemas.microsoft.com/office/drawing/2014/main" id="{35F23D79-5BB4-69B2-F354-34286FD5B279}"/>
              </a:ext>
            </a:extLst>
          </p:cNvPr>
          <p:cNvSpPr/>
          <p:nvPr/>
        </p:nvSpPr>
        <p:spPr>
          <a:xfrm>
            <a:off x="479322" y="990252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72F05-6D8E-9848-BC31-95FA0E17BE68}"/>
              </a:ext>
            </a:extLst>
          </p:cNvPr>
          <p:cNvSpPr txBox="1"/>
          <p:nvPr/>
        </p:nvSpPr>
        <p:spPr>
          <a:xfrm>
            <a:off x="683342" y="368709"/>
            <a:ext cx="4026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Inter" panose="020B0604020202020204" charset="0"/>
                <a:ea typeface="Inter" panose="020B0604020202020204" charset="0"/>
              </a:rPr>
              <a:t>Output Metrics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37D6B-B300-53FA-1D45-4DF5F7941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56" y="1215472"/>
            <a:ext cx="5212557" cy="4831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39537-6958-D7E8-5705-690517D59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32" y="1456710"/>
            <a:ext cx="3706761" cy="39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9F43-EDCB-D33C-B856-86492FBBD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821" y="261718"/>
            <a:ext cx="11566358" cy="957482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latin typeface="Inter" panose="020B0604020202020204" charset="0"/>
                <a:ea typeface="Inter" panose="020B0604020202020204" charset="0"/>
              </a:rPr>
              <a:t>System Architecture and Progress (Prototype)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5CFB-C819-68C9-2448-D1F571B07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1656346"/>
            <a:ext cx="11383879" cy="2517007"/>
          </a:xfrm>
        </p:spPr>
        <p:txBody>
          <a:bodyPr>
            <a:noAutofit/>
          </a:bodyPr>
          <a:lstStyle/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Sniffer Engine (</a:t>
            </a:r>
            <a:r>
              <a:rPr lang="en-US" sz="2400" b="1" dirty="0" err="1">
                <a:solidFill>
                  <a:schemeClr val="tx1"/>
                </a:solidFill>
              </a:rPr>
              <a:t>Scapy</a:t>
            </a:r>
            <a:r>
              <a:rPr lang="en-US" sz="2400" b="1" dirty="0">
                <a:solidFill>
                  <a:schemeClr val="tx1"/>
                </a:solidFill>
              </a:rPr>
              <a:t>):</a:t>
            </a:r>
            <a:r>
              <a:rPr lang="en-US" sz="2400" dirty="0">
                <a:solidFill>
                  <a:schemeClr val="tx1"/>
                </a:solidFill>
              </a:rPr>
              <a:t> Performs live capture of inbound (RX) and outbound (TX) traffic to detect packet absorption.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Real-time Logic:</a:t>
            </a:r>
            <a:r>
              <a:rPr lang="en-US" sz="2400" dirty="0">
                <a:solidFill>
                  <a:schemeClr val="tx1"/>
                </a:solidFill>
              </a:rPr>
              <a:t> Uses </a:t>
            </a:r>
            <a:r>
              <a:rPr lang="en-US" sz="2400" b="1" dirty="0">
                <a:solidFill>
                  <a:schemeClr val="tx1"/>
                </a:solidFill>
              </a:rPr>
              <a:t>Bi-directional Symmetry Analysis</a:t>
            </a:r>
            <a:r>
              <a:rPr lang="en-US" sz="2400" dirty="0">
                <a:solidFill>
                  <a:schemeClr val="tx1"/>
                </a:solidFill>
              </a:rPr>
              <a:t> to distinguish between high-bandwidth legitimate traffic (Speed Tests) and Black Hole attacks.</a:t>
            </a:r>
          </a:p>
          <a:p>
            <a:pPr marL="4826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Dashboard (</a:t>
            </a:r>
            <a:r>
              <a:rPr lang="en-US" sz="2400" b="1" dirty="0" err="1">
                <a:solidFill>
                  <a:schemeClr val="tx1"/>
                </a:solidFill>
              </a:rPr>
              <a:t>Streamlit</a:t>
            </a:r>
            <a:r>
              <a:rPr lang="en-US" sz="2400" b="1" dirty="0">
                <a:solidFill>
                  <a:schemeClr val="tx1"/>
                </a:solidFill>
              </a:rPr>
              <a:t>):</a:t>
            </a:r>
            <a:r>
              <a:rPr lang="en-US" sz="2400" dirty="0">
                <a:solidFill>
                  <a:schemeClr val="tx1"/>
                </a:solidFill>
              </a:rPr>
              <a:t> A live interface displaying node identity (IP/MAC), estimated PDR, and real time analytics</a:t>
            </a:r>
            <a:endParaRPr lang="en-IN" sz="2400" dirty="0">
              <a:solidFill>
                <a:schemeClr val="tx1"/>
              </a:solidFill>
            </a:endParaRPr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82600" indent="-457200" algn="l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Google Shape;145;p17">
            <a:extLst>
              <a:ext uri="{FF2B5EF4-FFF2-40B4-BE49-F238E27FC236}">
                <a16:creationId xmlns:a16="http://schemas.microsoft.com/office/drawing/2014/main" id="{CA8D43EB-E957-579F-4DF9-A7E7B436AB4C}"/>
              </a:ext>
            </a:extLst>
          </p:cNvPr>
          <p:cNvSpPr/>
          <p:nvPr/>
        </p:nvSpPr>
        <p:spPr>
          <a:xfrm>
            <a:off x="495300" y="1173481"/>
            <a:ext cx="11201400" cy="45719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83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762000" y="571500"/>
            <a:ext cx="112014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Project Timeline &amp; Work Plan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762000" y="1276350"/>
            <a:ext cx="10668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916747" y="3473499"/>
            <a:ext cx="10668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792485" y="334967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6B3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03328" y="3914030"/>
            <a:ext cx="24642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4256930"/>
            <a:ext cx="23469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Literature Survey &amp; Dataset Collection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150" name="Google Shape;150;p17"/>
          <p:cNvSpPr/>
          <p:nvPr/>
        </p:nvSpPr>
        <p:spPr>
          <a:xfrm>
            <a:off x="4566195" y="334967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6B3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477037" y="3914030"/>
            <a:ext cx="24642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535709" y="4256930"/>
            <a:ext cx="23469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SVM Model Training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7339905" y="334967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6B3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250747" y="3914030"/>
            <a:ext cx="24642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3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09419" y="4256930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Real-Time Packet Sniffer Integration</a:t>
            </a:r>
            <a:endParaRPr dirty="0"/>
          </a:p>
        </p:txBody>
      </p:sp>
      <p:sp>
        <p:nvSpPr>
          <p:cNvPr id="156" name="Google Shape;156;p17"/>
          <p:cNvSpPr/>
          <p:nvPr/>
        </p:nvSpPr>
        <p:spPr>
          <a:xfrm>
            <a:off x="10113615" y="334967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056B3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024457" y="3914030"/>
            <a:ext cx="24642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Phase 4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083129" y="4256930"/>
            <a:ext cx="234687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Final Testing, Dashboard UI, &amp; Reporting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6B82-C2AA-6BE0-D29C-C5F08BD01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38923"/>
            <a:ext cx="7772400" cy="505922"/>
          </a:xfrm>
        </p:spPr>
        <p:txBody>
          <a:bodyPr>
            <a:normAutofit fontScale="90000"/>
          </a:bodyPr>
          <a:lstStyle/>
          <a:p>
            <a:pPr algn="l"/>
            <a:r>
              <a:rPr lang="en-IN" b="1" dirty="0"/>
              <a:t>Further Work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F4F73-E93F-9EE1-8311-E1F6A3D74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065" y="1465006"/>
            <a:ext cx="10565990" cy="4173794"/>
          </a:xfrm>
        </p:spPr>
        <p:txBody>
          <a:bodyPr>
            <a:normAutofit/>
          </a:bodyPr>
          <a:lstStyle/>
          <a:p>
            <a:pPr marL="3111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Incorporate more feature engineering techniques and training methods to improve testing accuracy</a:t>
            </a:r>
          </a:p>
          <a:p>
            <a:pPr marL="3111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Demonstrate the working of the model on a real traffic using packet sniffing and simulate a fake black hole node.</a:t>
            </a:r>
          </a:p>
          <a:p>
            <a:pPr marL="311150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More detailed dashboard analytics using more metrics analysed in real time.</a:t>
            </a:r>
          </a:p>
        </p:txBody>
      </p:sp>
      <p:sp>
        <p:nvSpPr>
          <p:cNvPr id="4" name="Google Shape;145;p17">
            <a:extLst>
              <a:ext uri="{FF2B5EF4-FFF2-40B4-BE49-F238E27FC236}">
                <a16:creationId xmlns:a16="http://schemas.microsoft.com/office/drawing/2014/main" id="{E2A6D55E-09D2-DF0E-9564-F6CC85502276}"/>
              </a:ext>
            </a:extLst>
          </p:cNvPr>
          <p:cNvSpPr/>
          <p:nvPr/>
        </p:nvSpPr>
        <p:spPr>
          <a:xfrm>
            <a:off x="298655" y="917842"/>
            <a:ext cx="11201400" cy="45719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3730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565</Words>
  <Application>Microsoft Office PowerPoint</Application>
  <PresentationFormat>Widescreen</PresentationFormat>
  <Paragraphs>59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Inter</vt:lpstr>
      <vt:lpstr>Inter SemiBold</vt:lpstr>
      <vt:lpstr>Inter ExtraBold</vt:lpstr>
      <vt:lpstr>Inter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Technical Implementation Progress</vt:lpstr>
      <vt:lpstr>PowerPoint Presentation</vt:lpstr>
      <vt:lpstr>System Architecture and Progress (Prototype)</vt:lpstr>
      <vt:lpstr>PowerPoint Presentation</vt:lpstr>
      <vt:lpstr>Further Work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Dhiyaneshwar</dc:creator>
  <cp:lastModifiedBy>Dhiyaneshwar Vedagiri</cp:lastModifiedBy>
  <cp:revision>4</cp:revision>
  <dcterms:modified xsi:type="dcterms:W3CDTF">2026-03-17T09:54:01Z</dcterms:modified>
</cp:coreProperties>
</file>