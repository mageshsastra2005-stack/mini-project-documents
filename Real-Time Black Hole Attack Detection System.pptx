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embeddedFontLst>
    <p:embeddedFont>
      <p:font typeface="Merriweather" panose="00000500000000000000" pitchFamily="2" charset="0"/>
      <p:regular r:id="rId10"/>
      <p:bold r:id="rId11"/>
      <p:italic r:id="rId12"/>
      <p:boldItalic r:id="rId13"/>
    </p:embeddedFont>
    <p:embeddedFont>
      <p:font typeface="Merriweather Black" panose="00000A00000000000000" pitchFamily="2" charset="0"/>
      <p:bold r:id="rId14"/>
      <p:boldItalic r:id="rId15"/>
    </p:embeddedFont>
    <p:embeddedFont>
      <p:font typeface="Open Sans" panose="020B0606030504020204" pitchFamily="34" charset="0"/>
      <p:regular r:id="rId16"/>
      <p:bold r:id="rId17"/>
      <p:italic r:id="rId18"/>
      <p:boldItalic r:id="rId19"/>
    </p:embeddedFont>
    <p:embeddedFont>
      <p:font typeface="Open Sans SemiBold" panose="020B070603080402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font" Target="fonts/font14.fntdata"/><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font" Target="fonts/font1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0" y="6477000"/>
            <a:ext cx="12192000" cy="381000"/>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3167062" y="3473648"/>
            <a:ext cx="5857875" cy="2105025"/>
          </a:xfrm>
          <a:prstGeom prst="rect">
            <a:avLst/>
          </a:prstGeom>
          <a:noFill/>
          <a:ln>
            <a:noFill/>
          </a:ln>
        </p:spPr>
      </p:pic>
      <p:sp>
        <p:nvSpPr>
          <p:cNvPr id="87" name="Google Shape;87;p13"/>
          <p:cNvSpPr txBox="1"/>
          <p:nvPr/>
        </p:nvSpPr>
        <p:spPr>
          <a:xfrm>
            <a:off x="595312" y="898326"/>
            <a:ext cx="11001375" cy="2194321"/>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600" b="0" i="0" u="none" strike="noStrike" cap="none">
                <a:solidFill>
                  <a:srgbClr val="333333"/>
                </a:solidFill>
                <a:latin typeface="Merriweather Black"/>
                <a:ea typeface="Merriweather Black"/>
                <a:cs typeface="Merriweather Black"/>
                <a:sym typeface="Merriweather Black"/>
              </a:rPr>
              <a:t>Design and Implementation of a Real-Time Black Hole Attack Detection System in MANETs using SVM and Live Traffic Analytics</a:t>
            </a:r>
            <a:endParaRPr/>
          </a:p>
        </p:txBody>
      </p:sp>
      <p:sp>
        <p:nvSpPr>
          <p:cNvPr id="88" name="Google Shape;88;p13"/>
          <p:cNvSpPr txBox="1"/>
          <p:nvPr/>
        </p:nvSpPr>
        <p:spPr>
          <a:xfrm>
            <a:off x="381000" y="6581775"/>
            <a:ext cx="1038225"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66666"/>
                </a:solidFill>
                <a:latin typeface="Open Sans"/>
                <a:ea typeface="Open Sans"/>
                <a:cs typeface="Open Sans"/>
                <a:sym typeface="Open Sans"/>
              </a:rPr>
              <a:t>Project Review 0</a:t>
            </a:r>
            <a:endParaRPr/>
          </a:p>
        </p:txBody>
      </p:sp>
      <p:sp>
        <p:nvSpPr>
          <p:cNvPr id="89" name="Google Shape;89;p13"/>
          <p:cNvSpPr txBox="1"/>
          <p:nvPr/>
        </p:nvSpPr>
        <p:spPr>
          <a:xfrm>
            <a:off x="10172700" y="6581775"/>
            <a:ext cx="1638300"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66666"/>
                </a:solidFill>
                <a:latin typeface="Open Sans"/>
                <a:ea typeface="Open Sans"/>
                <a:cs typeface="Open Sans"/>
                <a:sym typeface="Open Sans"/>
              </a:rPr>
              <a:t>Academic Year 2024-2025</a:t>
            </a:r>
            <a:endParaRPr/>
          </a:p>
        </p:txBody>
      </p:sp>
      <p:sp>
        <p:nvSpPr>
          <p:cNvPr id="90" name="Google Shape;90;p13"/>
          <p:cNvSpPr txBox="1"/>
          <p:nvPr/>
        </p:nvSpPr>
        <p:spPr>
          <a:xfrm>
            <a:off x="3462337" y="3768923"/>
            <a:ext cx="3070383"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666666"/>
                </a:solidFill>
                <a:latin typeface="Open Sans"/>
                <a:ea typeface="Open Sans"/>
                <a:cs typeface="Open Sans"/>
                <a:sym typeface="Open Sans"/>
              </a:rPr>
              <a:t>TEAM MEMBERS</a:t>
            </a:r>
            <a:endParaRPr/>
          </a:p>
        </p:txBody>
      </p:sp>
      <p:sp>
        <p:nvSpPr>
          <p:cNvPr id="91" name="Google Shape;91;p13"/>
          <p:cNvSpPr/>
          <p:nvPr/>
        </p:nvSpPr>
        <p:spPr>
          <a:xfrm>
            <a:off x="3462337" y="4045148"/>
            <a:ext cx="2924175"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2" name="Google Shape;92;p13"/>
          <p:cNvSpPr txBox="1"/>
          <p:nvPr/>
        </p:nvSpPr>
        <p:spPr>
          <a:xfrm>
            <a:off x="7148512" y="3768923"/>
            <a:ext cx="1660207"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666666"/>
                </a:solidFill>
                <a:latin typeface="Open Sans"/>
                <a:ea typeface="Open Sans"/>
                <a:cs typeface="Open Sans"/>
                <a:sym typeface="Open Sans"/>
              </a:rPr>
              <a:t>PROJECT GUIDE</a:t>
            </a:r>
            <a:endParaRPr/>
          </a:p>
        </p:txBody>
      </p:sp>
      <p:sp>
        <p:nvSpPr>
          <p:cNvPr id="93" name="Google Shape;93;p13"/>
          <p:cNvSpPr/>
          <p:nvPr/>
        </p:nvSpPr>
        <p:spPr>
          <a:xfrm>
            <a:off x="7148512" y="4045148"/>
            <a:ext cx="1581150"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 name="Google Shape;94;p13"/>
          <p:cNvSpPr txBox="1"/>
          <p:nvPr/>
        </p:nvSpPr>
        <p:spPr>
          <a:xfrm>
            <a:off x="7148512" y="4197548"/>
            <a:ext cx="1581150" cy="342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rgbClr val="333333"/>
                </a:solidFill>
                <a:latin typeface="Open Sans SemiBold"/>
                <a:ea typeface="Open Sans SemiBold"/>
                <a:cs typeface="Open Sans SemiBold"/>
                <a:sym typeface="Open Sans SemiBold"/>
              </a:rPr>
              <a:t>R Manikandan</a:t>
            </a:r>
            <a:endParaRPr/>
          </a:p>
        </p:txBody>
      </p:sp>
      <p:sp>
        <p:nvSpPr>
          <p:cNvPr id="95" name="Google Shape;95;p13"/>
          <p:cNvSpPr txBox="1"/>
          <p:nvPr/>
        </p:nvSpPr>
        <p:spPr>
          <a:xfrm>
            <a:off x="3462337" y="4197548"/>
            <a:ext cx="29241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3333"/>
                </a:solidFill>
                <a:latin typeface="Open Sans"/>
                <a:ea typeface="Open Sans"/>
                <a:cs typeface="Open Sans"/>
                <a:sym typeface="Open Sans"/>
              </a:rPr>
              <a:t>127158010</a:t>
            </a:r>
            <a:r>
              <a:rPr lang="en-US" sz="1500" b="0" i="0" u="none" strike="noStrike" cap="none">
                <a:solidFill>
                  <a:srgbClr val="2C3E50"/>
                </a:solidFill>
                <a:latin typeface="Open Sans"/>
                <a:ea typeface="Open Sans"/>
                <a:cs typeface="Open Sans"/>
                <a:sym typeface="Open Sans"/>
              </a:rPr>
              <a:t> - Dhiyaneshwar P V</a:t>
            </a:r>
            <a:endParaRPr/>
          </a:p>
        </p:txBody>
      </p:sp>
      <p:sp>
        <p:nvSpPr>
          <p:cNvPr id="96" name="Google Shape;96;p13"/>
          <p:cNvSpPr txBox="1"/>
          <p:nvPr/>
        </p:nvSpPr>
        <p:spPr>
          <a:xfrm>
            <a:off x="3462337" y="4559498"/>
            <a:ext cx="29241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3333"/>
                </a:solidFill>
                <a:latin typeface="Open Sans"/>
                <a:ea typeface="Open Sans"/>
                <a:cs typeface="Open Sans"/>
                <a:sym typeface="Open Sans"/>
              </a:rPr>
              <a:t>127158029</a:t>
            </a:r>
            <a:r>
              <a:rPr lang="en-US" sz="1500" b="0" i="0" u="none" strike="noStrike" cap="none">
                <a:solidFill>
                  <a:srgbClr val="2C3E50"/>
                </a:solidFill>
                <a:latin typeface="Open Sans"/>
                <a:ea typeface="Open Sans"/>
                <a:cs typeface="Open Sans"/>
                <a:sym typeface="Open Sans"/>
              </a:rPr>
              <a:t> - Mageshwaran M</a:t>
            </a:r>
            <a:endParaRPr/>
          </a:p>
        </p:txBody>
      </p:sp>
      <p:sp>
        <p:nvSpPr>
          <p:cNvPr id="97" name="Google Shape;97;p13"/>
          <p:cNvSpPr txBox="1"/>
          <p:nvPr/>
        </p:nvSpPr>
        <p:spPr>
          <a:xfrm>
            <a:off x="3462337" y="4921448"/>
            <a:ext cx="2924175"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3333"/>
                </a:solidFill>
                <a:latin typeface="Open Sans"/>
                <a:ea typeface="Open Sans"/>
                <a:cs typeface="Open Sans"/>
                <a:sym typeface="Open Sans"/>
              </a:rPr>
              <a:t>127158061</a:t>
            </a:r>
            <a:r>
              <a:rPr lang="en-US" sz="1500" b="0" i="0" u="none" strike="noStrike" cap="none">
                <a:solidFill>
                  <a:srgbClr val="2C3E50"/>
                </a:solidFill>
                <a:latin typeface="Open Sans"/>
                <a:ea typeface="Open Sans"/>
                <a:cs typeface="Open Sans"/>
                <a:sym typeface="Open Sans"/>
              </a:rPr>
              <a:t> - Yuvanesh Sasikumar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1"/>
        <p:cNvGrpSpPr/>
        <p:nvPr/>
      </p:nvGrpSpPr>
      <p:grpSpPr>
        <a:xfrm>
          <a:off x="0" y="0"/>
          <a:ext cx="0" cy="0"/>
          <a:chOff x="0" y="0"/>
          <a:chExt cx="0" cy="0"/>
        </a:xfrm>
      </p:grpSpPr>
      <p:pic>
        <p:nvPicPr>
          <p:cNvPr id="102" name="Google Shape;102;p14" descr="image.png"/>
          <p:cNvPicPr preferRelativeResize="0"/>
          <p:nvPr/>
        </p:nvPicPr>
        <p:blipFill rotWithShape="1">
          <a:blip r:embed="rId3">
            <a:alphaModFix/>
          </a:blip>
          <a:srcRect/>
          <a:stretch/>
        </p:blipFill>
        <p:spPr>
          <a:xfrm>
            <a:off x="0" y="6477000"/>
            <a:ext cx="12192000" cy="381000"/>
          </a:xfrm>
          <a:prstGeom prst="rect">
            <a:avLst/>
          </a:prstGeom>
          <a:noFill/>
          <a:ln>
            <a:noFill/>
          </a:ln>
        </p:spPr>
      </p:pic>
      <p:pic>
        <p:nvPicPr>
          <p:cNvPr id="103" name="Google Shape;103;p14" descr="image.png"/>
          <p:cNvPicPr preferRelativeResize="0"/>
          <p:nvPr/>
        </p:nvPicPr>
        <p:blipFill rotWithShape="1">
          <a:blip r:embed="rId4">
            <a:alphaModFix/>
          </a:blip>
          <a:srcRect/>
          <a:stretch/>
        </p:blipFill>
        <p:spPr>
          <a:xfrm>
            <a:off x="571500" y="1181100"/>
            <a:ext cx="11049000" cy="4552950"/>
          </a:xfrm>
          <a:prstGeom prst="rect">
            <a:avLst/>
          </a:prstGeom>
          <a:noFill/>
          <a:ln>
            <a:noFill/>
          </a:ln>
        </p:spPr>
      </p:pic>
      <p:sp>
        <p:nvSpPr>
          <p:cNvPr id="104" name="Google Shape;104;p14"/>
          <p:cNvSpPr txBox="1"/>
          <p:nvPr/>
        </p:nvSpPr>
        <p:spPr>
          <a:xfrm>
            <a:off x="571500" y="38100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333333"/>
                </a:solidFill>
                <a:latin typeface="Merriweather"/>
                <a:ea typeface="Merriweather"/>
                <a:cs typeface="Merriweather"/>
                <a:sym typeface="Merriweather"/>
              </a:rPr>
              <a:t>Abstract</a:t>
            </a:r>
            <a:endParaRPr/>
          </a:p>
        </p:txBody>
      </p:sp>
      <p:sp>
        <p:nvSpPr>
          <p:cNvPr id="105" name="Google Shape;105;p14"/>
          <p:cNvSpPr/>
          <p:nvPr/>
        </p:nvSpPr>
        <p:spPr>
          <a:xfrm>
            <a:off x="571500" y="92392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p14"/>
          <p:cNvSpPr txBox="1"/>
          <p:nvPr/>
        </p:nvSpPr>
        <p:spPr>
          <a:xfrm>
            <a:off x="381000" y="6581775"/>
            <a:ext cx="3714750"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66666"/>
                </a:solidFill>
                <a:latin typeface="Open Sans"/>
                <a:ea typeface="Open Sans"/>
                <a:cs typeface="Open Sans"/>
                <a:sym typeface="Open Sans"/>
              </a:rPr>
              <a:t>Design and Implementation of Black Hole Attack Detection</a:t>
            </a:r>
            <a:endParaRPr/>
          </a:p>
        </p:txBody>
      </p:sp>
      <p:sp>
        <p:nvSpPr>
          <p:cNvPr id="107" name="Google Shape;107;p14"/>
          <p:cNvSpPr txBox="1"/>
          <p:nvPr/>
        </p:nvSpPr>
        <p:spPr>
          <a:xfrm>
            <a:off x="11734800" y="6581775"/>
            <a:ext cx="76200"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66666"/>
                </a:solidFill>
                <a:latin typeface="Open Sans"/>
                <a:ea typeface="Open Sans"/>
                <a:cs typeface="Open Sans"/>
                <a:sym typeface="Open Sans"/>
              </a:rPr>
              <a:t>2</a:t>
            </a:r>
            <a:endParaRPr/>
          </a:p>
        </p:txBody>
      </p:sp>
      <p:sp>
        <p:nvSpPr>
          <p:cNvPr id="108" name="Google Shape;108;p14"/>
          <p:cNvSpPr txBox="1"/>
          <p:nvPr/>
        </p:nvSpPr>
        <p:spPr>
          <a:xfrm>
            <a:off x="1009650" y="1419225"/>
            <a:ext cx="10229850" cy="3962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a:solidFill>
                  <a:srgbClr val="333333"/>
                </a:solidFill>
                <a:latin typeface="Open Sans"/>
                <a:ea typeface="Open Sans"/>
                <a:cs typeface="Open Sans"/>
                <a:sym typeface="Open Sans"/>
              </a:rPr>
              <a:t>Mobile Ad-Hoc Networks (MANETs) are known for their susceptibility to routing threats, especially black hole attacks, due to their decentralised and infrastructure-less architecture. Traditional signature-based detection systems often fail to keep pace with the dynamic topology of MANETs. This project implements a high precision Anomaly Detection System based on the Support Vector Machine (SVM) algorithm. The proposed framework utilises a Radial Basis Function (RBF) kernel SVM to classify network behaviour by analyzing high impact traffic features, specifically focusing on Packet Delivery Ratio (PDR), End to End Delay and Throughput. This project integrates a live packet sniffing engine using the Python Scapy library to capture real time network traffic and processes it through a feature extraction pipeline. A core component of this project is the development of a Real Time Security Dashboard built using Streamlit. This interface provides instantaneous visual feedback on network health and triggers automated alerts upon detection of a malicious code. Experimental results show that the SVM based approach achieves a detection accuracy approaching 99.9% and effectively minimizing false positives. The final output provides a lightweight, scalable, and practical security tool for securing modern decentralized wireless networks against routing-layer exploitation attacks.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2"/>
        <p:cNvGrpSpPr/>
        <p:nvPr/>
      </p:nvGrpSpPr>
      <p:grpSpPr>
        <a:xfrm>
          <a:off x="0" y="0"/>
          <a:ext cx="0" cy="0"/>
          <a:chOff x="0" y="0"/>
          <a:chExt cx="0" cy="0"/>
        </a:xfrm>
      </p:grpSpPr>
      <p:pic>
        <p:nvPicPr>
          <p:cNvPr id="113" name="Google Shape;113;p15" descr="image.png"/>
          <p:cNvPicPr preferRelativeResize="0"/>
          <p:nvPr/>
        </p:nvPicPr>
        <p:blipFill rotWithShape="1">
          <a:blip r:embed="rId3">
            <a:alphaModFix/>
          </a:blip>
          <a:srcRect/>
          <a:stretch/>
        </p:blipFill>
        <p:spPr>
          <a:xfrm>
            <a:off x="0" y="6477000"/>
            <a:ext cx="12192000" cy="381000"/>
          </a:xfrm>
          <a:prstGeom prst="rect">
            <a:avLst/>
          </a:prstGeom>
          <a:noFill/>
          <a:ln>
            <a:noFill/>
          </a:ln>
        </p:spPr>
      </p:pic>
      <p:pic>
        <p:nvPicPr>
          <p:cNvPr id="114" name="Google Shape;114;p15" descr="image.png"/>
          <p:cNvPicPr preferRelativeResize="0"/>
          <p:nvPr/>
        </p:nvPicPr>
        <p:blipFill rotWithShape="1">
          <a:blip r:embed="rId4">
            <a:alphaModFix/>
          </a:blip>
          <a:srcRect/>
          <a:stretch/>
        </p:blipFill>
        <p:spPr>
          <a:xfrm>
            <a:off x="7391400" y="1276350"/>
            <a:ext cx="4229100" cy="3505200"/>
          </a:xfrm>
          <a:prstGeom prst="rect">
            <a:avLst/>
          </a:prstGeom>
          <a:noFill/>
          <a:ln>
            <a:noFill/>
          </a:ln>
        </p:spPr>
      </p:pic>
      <p:sp>
        <p:nvSpPr>
          <p:cNvPr id="115" name="Google Shape;115;p15"/>
          <p:cNvSpPr txBox="1"/>
          <p:nvPr/>
        </p:nvSpPr>
        <p:spPr>
          <a:xfrm>
            <a:off x="571500" y="38100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333333"/>
                </a:solidFill>
                <a:latin typeface="Merriweather"/>
                <a:ea typeface="Merriweather"/>
                <a:cs typeface="Merriweather"/>
                <a:sym typeface="Merriweather"/>
              </a:rPr>
              <a:t>Problem Statement</a:t>
            </a:r>
            <a:endParaRPr/>
          </a:p>
        </p:txBody>
      </p:sp>
      <p:sp>
        <p:nvSpPr>
          <p:cNvPr id="116" name="Google Shape;116;p15"/>
          <p:cNvSpPr/>
          <p:nvPr/>
        </p:nvSpPr>
        <p:spPr>
          <a:xfrm>
            <a:off x="571500" y="92392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 name="Google Shape;117;p15"/>
          <p:cNvSpPr txBox="1"/>
          <p:nvPr/>
        </p:nvSpPr>
        <p:spPr>
          <a:xfrm>
            <a:off x="381000" y="6581775"/>
            <a:ext cx="3714750"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66666"/>
                </a:solidFill>
                <a:latin typeface="Open Sans"/>
                <a:ea typeface="Open Sans"/>
                <a:cs typeface="Open Sans"/>
                <a:sym typeface="Open Sans"/>
              </a:rPr>
              <a:t>Design and Implementation of Black Hole Attack Detection</a:t>
            </a:r>
            <a:endParaRPr/>
          </a:p>
        </p:txBody>
      </p:sp>
      <p:sp>
        <p:nvSpPr>
          <p:cNvPr id="118" name="Google Shape;118;p15"/>
          <p:cNvSpPr txBox="1"/>
          <p:nvPr/>
        </p:nvSpPr>
        <p:spPr>
          <a:xfrm>
            <a:off x="11734800" y="6581775"/>
            <a:ext cx="76200"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66666"/>
                </a:solidFill>
                <a:latin typeface="Open Sans"/>
                <a:ea typeface="Open Sans"/>
                <a:cs typeface="Open Sans"/>
                <a:sym typeface="Open Sans"/>
              </a:rPr>
              <a:t>3</a:t>
            </a:r>
            <a:endParaRPr/>
          </a:p>
        </p:txBody>
      </p:sp>
      <p:sp>
        <p:nvSpPr>
          <p:cNvPr id="119" name="Google Shape;119;p15"/>
          <p:cNvSpPr txBox="1"/>
          <p:nvPr/>
        </p:nvSpPr>
        <p:spPr>
          <a:xfrm>
            <a:off x="571500" y="1276350"/>
            <a:ext cx="6343650" cy="571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2C3E50"/>
                </a:solidFill>
                <a:latin typeface="Open Sans"/>
                <a:ea typeface="Open Sans"/>
                <a:cs typeface="Open Sans"/>
                <a:sym typeface="Open Sans"/>
              </a:rPr>
              <a:t>Mobile Ad-Hoc Networks (MANETs) operate without a fixed infrastructure, making them inherently vulnerable to routing exploits.</a:t>
            </a:r>
            <a:endParaRPr/>
          </a:p>
        </p:txBody>
      </p:sp>
      <p:sp>
        <p:nvSpPr>
          <p:cNvPr id="120" name="Google Shape;120;p15"/>
          <p:cNvSpPr txBox="1"/>
          <p:nvPr/>
        </p:nvSpPr>
        <p:spPr>
          <a:xfrm>
            <a:off x="7496175" y="4333875"/>
            <a:ext cx="4019550" cy="2286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666666"/>
                </a:solidFill>
                <a:latin typeface="Open Sans"/>
                <a:ea typeface="Open Sans"/>
                <a:cs typeface="Open Sans"/>
                <a:sym typeface="Open Sans"/>
              </a:rPr>
              <a:t>Fig 1. Schematic of Black Hole Attack</a:t>
            </a:r>
            <a:endParaRPr/>
          </a:p>
        </p:txBody>
      </p:sp>
      <p:sp>
        <p:nvSpPr>
          <p:cNvPr id="121" name="Google Shape;121;p15"/>
          <p:cNvSpPr txBox="1"/>
          <p:nvPr/>
        </p:nvSpPr>
        <p:spPr>
          <a:xfrm>
            <a:off x="809625" y="1962150"/>
            <a:ext cx="6105525" cy="857250"/>
          </a:xfrm>
          <a:prstGeom prst="rect">
            <a:avLst/>
          </a:prstGeom>
          <a:noFill/>
          <a:ln>
            <a:noFill/>
          </a:ln>
        </p:spPr>
        <p:txBody>
          <a:bodyPr spcFirstLastPara="1" wrap="square" lIns="15240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3333"/>
                </a:solidFill>
                <a:latin typeface="Open Sans"/>
                <a:ea typeface="Open Sans"/>
                <a:cs typeface="Open Sans"/>
                <a:sym typeface="Open Sans"/>
              </a:rPr>
              <a:t>The Threat:</a:t>
            </a:r>
            <a:r>
              <a:rPr lang="en-US" sz="1500" b="0" i="0" u="none" strike="noStrike" cap="none">
                <a:solidFill>
                  <a:srgbClr val="2C3E50"/>
                </a:solidFill>
                <a:latin typeface="Open Sans"/>
                <a:ea typeface="Open Sans"/>
                <a:cs typeface="Open Sans"/>
                <a:sym typeface="Open Sans"/>
              </a:rPr>
              <a:t> In a Black Hole Attack, a malicious node falsely advertises a fresh, shortest path to the destination during route discovery.</a:t>
            </a:r>
            <a:endParaRPr/>
          </a:p>
        </p:txBody>
      </p:sp>
      <p:sp>
        <p:nvSpPr>
          <p:cNvPr id="122" name="Google Shape;122;p15"/>
          <p:cNvSpPr txBox="1"/>
          <p:nvPr/>
        </p:nvSpPr>
        <p:spPr>
          <a:xfrm>
            <a:off x="809625" y="2933700"/>
            <a:ext cx="6105525" cy="857250"/>
          </a:xfrm>
          <a:prstGeom prst="rect">
            <a:avLst/>
          </a:prstGeom>
          <a:noFill/>
          <a:ln>
            <a:noFill/>
          </a:ln>
        </p:spPr>
        <p:txBody>
          <a:bodyPr spcFirstLastPara="1" wrap="square" lIns="15240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3333"/>
                </a:solidFill>
                <a:latin typeface="Open Sans"/>
                <a:ea typeface="Open Sans"/>
                <a:cs typeface="Open Sans"/>
                <a:sym typeface="Open Sans"/>
              </a:rPr>
              <a:t>The Consequence:</a:t>
            </a:r>
            <a:r>
              <a:rPr lang="en-US" sz="1500" b="0" i="0" u="none" strike="noStrike" cap="none">
                <a:solidFill>
                  <a:srgbClr val="2C3E50"/>
                </a:solidFill>
                <a:latin typeface="Open Sans"/>
                <a:ea typeface="Open Sans"/>
                <a:cs typeface="Open Sans"/>
                <a:sym typeface="Open Sans"/>
              </a:rPr>
              <a:t> Once the route is established, the node silently discards all incoming data packets, leading to a Denial of Service (DoS).</a:t>
            </a:r>
            <a:endParaRPr/>
          </a:p>
        </p:txBody>
      </p:sp>
      <p:sp>
        <p:nvSpPr>
          <p:cNvPr id="123" name="Google Shape;123;p15"/>
          <p:cNvSpPr txBox="1"/>
          <p:nvPr/>
        </p:nvSpPr>
        <p:spPr>
          <a:xfrm>
            <a:off x="809625" y="3905250"/>
            <a:ext cx="6105525" cy="857250"/>
          </a:xfrm>
          <a:prstGeom prst="rect">
            <a:avLst/>
          </a:prstGeom>
          <a:noFill/>
          <a:ln>
            <a:noFill/>
          </a:ln>
        </p:spPr>
        <p:txBody>
          <a:bodyPr spcFirstLastPara="1" wrap="square" lIns="15240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3333"/>
                </a:solidFill>
                <a:latin typeface="Open Sans"/>
                <a:ea typeface="Open Sans"/>
                <a:cs typeface="Open Sans"/>
                <a:sym typeface="Open Sans"/>
              </a:rPr>
              <a:t>The Challenge:</a:t>
            </a:r>
            <a:r>
              <a:rPr lang="en-US" sz="1500" b="0" i="0" u="none" strike="noStrike" cap="none">
                <a:solidFill>
                  <a:srgbClr val="2C3E50"/>
                </a:solidFill>
                <a:latin typeface="Open Sans"/>
                <a:ea typeface="Open Sans"/>
                <a:cs typeface="Open Sans"/>
                <a:sym typeface="Open Sans"/>
              </a:rPr>
              <a:t> Existing signature-based systems struggle with dynamic topology. There is a need for an Anomaly Detection System (ADS) that is real-time and adaptable.</a:t>
            </a:r>
            <a:endParaRPr/>
          </a:p>
        </p:txBody>
      </p:sp>
      <p:pic>
        <p:nvPicPr>
          <p:cNvPr id="124" name="Google Shape;124;p15" descr="image.png"/>
          <p:cNvPicPr preferRelativeResize="0"/>
          <p:nvPr/>
        </p:nvPicPr>
        <p:blipFill rotWithShape="1">
          <a:blip r:embed="rId5">
            <a:alphaModFix/>
          </a:blip>
          <a:srcRect/>
          <a:stretch/>
        </p:blipFill>
        <p:spPr>
          <a:xfrm>
            <a:off x="8043862" y="2428875"/>
            <a:ext cx="952500" cy="762000"/>
          </a:xfrm>
          <a:prstGeom prst="rect">
            <a:avLst/>
          </a:prstGeom>
          <a:noFill/>
          <a:ln>
            <a:noFill/>
          </a:ln>
        </p:spPr>
      </p:pic>
      <p:sp>
        <p:nvSpPr>
          <p:cNvPr id="125" name="Google Shape;125;p15"/>
          <p:cNvSpPr txBox="1"/>
          <p:nvPr/>
        </p:nvSpPr>
        <p:spPr>
          <a:xfrm>
            <a:off x="8996362" y="2752725"/>
            <a:ext cx="1971675" cy="209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888888"/>
                </a:solidFill>
                <a:latin typeface="Open Sans"/>
                <a:ea typeface="Open Sans"/>
                <a:cs typeface="Open Sans"/>
                <a:sym typeface="Open Sans"/>
              </a:rPr>
              <a:t>Network Topology Diagram</a:t>
            </a:r>
            <a:endParaRPr/>
          </a:p>
        </p:txBody>
      </p:sp>
      <p:sp>
        <p:nvSpPr>
          <p:cNvPr id="126" name="Google Shape;126;p15"/>
          <p:cNvSpPr txBox="1"/>
          <p:nvPr/>
        </p:nvSpPr>
        <p:spPr>
          <a:xfrm>
            <a:off x="523875" y="1885950"/>
            <a:ext cx="10477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333333"/>
                </a:solidFill>
                <a:latin typeface="Open Sans"/>
                <a:ea typeface="Open Sans"/>
                <a:cs typeface="Open Sans"/>
                <a:sym typeface="Open Sans"/>
              </a:rPr>
              <a:t>▪</a:t>
            </a:r>
            <a:endParaRPr/>
          </a:p>
        </p:txBody>
      </p:sp>
      <p:sp>
        <p:nvSpPr>
          <p:cNvPr id="127" name="Google Shape;127;p15"/>
          <p:cNvSpPr txBox="1"/>
          <p:nvPr/>
        </p:nvSpPr>
        <p:spPr>
          <a:xfrm>
            <a:off x="523875" y="2857500"/>
            <a:ext cx="10477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333333"/>
                </a:solidFill>
                <a:latin typeface="Open Sans"/>
                <a:ea typeface="Open Sans"/>
                <a:cs typeface="Open Sans"/>
                <a:sym typeface="Open Sans"/>
              </a:rPr>
              <a:t>▪</a:t>
            </a:r>
            <a:endParaRPr/>
          </a:p>
        </p:txBody>
      </p:sp>
      <p:sp>
        <p:nvSpPr>
          <p:cNvPr id="128" name="Google Shape;128;p15"/>
          <p:cNvSpPr txBox="1"/>
          <p:nvPr/>
        </p:nvSpPr>
        <p:spPr>
          <a:xfrm>
            <a:off x="523875" y="3829050"/>
            <a:ext cx="104775" cy="4286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2250" b="0" i="0" u="none" strike="noStrike" cap="none">
                <a:solidFill>
                  <a:srgbClr val="333333"/>
                </a:solidFill>
                <a:latin typeface="Open Sans"/>
                <a:ea typeface="Open Sans"/>
                <a:cs typeface="Open Sans"/>
                <a:sym typeface="Open Sans"/>
              </a:rPr>
              <a:t>▪</a:t>
            </a:r>
            <a:endParaRPr/>
          </a:p>
        </p:txBody>
      </p:sp>
      <p:pic>
        <p:nvPicPr>
          <p:cNvPr id="3" name="Picture 2">
            <a:extLst>
              <a:ext uri="{FF2B5EF4-FFF2-40B4-BE49-F238E27FC236}">
                <a16:creationId xmlns:a16="http://schemas.microsoft.com/office/drawing/2014/main" id="{9100BDFF-2556-E7B9-F443-B756AF43BE5F}"/>
              </a:ext>
            </a:extLst>
          </p:cNvPr>
          <p:cNvPicPr>
            <a:picLocks noChangeAspect="1"/>
          </p:cNvPicPr>
          <p:nvPr/>
        </p:nvPicPr>
        <p:blipFill>
          <a:blip r:embed="rId6"/>
          <a:stretch>
            <a:fillRect/>
          </a:stretch>
        </p:blipFill>
        <p:spPr>
          <a:xfrm>
            <a:off x="6915150" y="1228503"/>
            <a:ext cx="5034967" cy="33720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2"/>
        <p:cNvGrpSpPr/>
        <p:nvPr/>
      </p:nvGrpSpPr>
      <p:grpSpPr>
        <a:xfrm>
          <a:off x="0" y="0"/>
          <a:ext cx="0" cy="0"/>
          <a:chOff x="0" y="0"/>
          <a:chExt cx="0" cy="0"/>
        </a:xfrm>
      </p:grpSpPr>
      <p:pic>
        <p:nvPicPr>
          <p:cNvPr id="133" name="Google Shape;133;p16" descr="image.png"/>
          <p:cNvPicPr preferRelativeResize="0"/>
          <p:nvPr/>
        </p:nvPicPr>
        <p:blipFill rotWithShape="1">
          <a:blip r:embed="rId3">
            <a:alphaModFix/>
          </a:blip>
          <a:srcRect/>
          <a:stretch/>
        </p:blipFill>
        <p:spPr>
          <a:xfrm>
            <a:off x="0" y="6477000"/>
            <a:ext cx="12192000" cy="381000"/>
          </a:xfrm>
          <a:prstGeom prst="rect">
            <a:avLst/>
          </a:prstGeom>
          <a:noFill/>
          <a:ln>
            <a:noFill/>
          </a:ln>
        </p:spPr>
      </p:pic>
      <p:pic>
        <p:nvPicPr>
          <p:cNvPr id="134" name="Google Shape;134;p16" descr="image.png"/>
          <p:cNvPicPr preferRelativeResize="0"/>
          <p:nvPr/>
        </p:nvPicPr>
        <p:blipFill rotWithShape="1">
          <a:blip r:embed="rId4">
            <a:alphaModFix/>
          </a:blip>
          <a:srcRect/>
          <a:stretch/>
        </p:blipFill>
        <p:spPr>
          <a:xfrm>
            <a:off x="6096000" y="1181100"/>
            <a:ext cx="5524500" cy="5667375"/>
          </a:xfrm>
          <a:prstGeom prst="rect">
            <a:avLst/>
          </a:prstGeom>
          <a:noFill/>
          <a:ln>
            <a:noFill/>
          </a:ln>
        </p:spPr>
      </p:pic>
      <p:sp>
        <p:nvSpPr>
          <p:cNvPr id="135" name="Google Shape;135;p16"/>
          <p:cNvSpPr txBox="1"/>
          <p:nvPr/>
        </p:nvSpPr>
        <p:spPr>
          <a:xfrm>
            <a:off x="571500" y="38100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333333"/>
                </a:solidFill>
                <a:latin typeface="Merriweather"/>
                <a:ea typeface="Merriweather"/>
                <a:cs typeface="Merriweather"/>
                <a:sym typeface="Merriweather"/>
              </a:rPr>
              <a:t>Literature Survey &amp; Research Motivation</a:t>
            </a:r>
            <a:endParaRPr/>
          </a:p>
        </p:txBody>
      </p:sp>
      <p:sp>
        <p:nvSpPr>
          <p:cNvPr id="136" name="Google Shape;136;p16"/>
          <p:cNvSpPr/>
          <p:nvPr/>
        </p:nvSpPr>
        <p:spPr>
          <a:xfrm>
            <a:off x="571500" y="92392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7" name="Google Shape;137;p16"/>
          <p:cNvSpPr txBox="1"/>
          <p:nvPr/>
        </p:nvSpPr>
        <p:spPr>
          <a:xfrm>
            <a:off x="381000" y="6581775"/>
            <a:ext cx="3714750"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66666"/>
                </a:solidFill>
                <a:latin typeface="Open Sans"/>
                <a:ea typeface="Open Sans"/>
                <a:cs typeface="Open Sans"/>
                <a:sym typeface="Open Sans"/>
              </a:rPr>
              <a:t>Design and Implementation of Black Hole Attack Detection</a:t>
            </a:r>
            <a:endParaRPr/>
          </a:p>
        </p:txBody>
      </p:sp>
      <p:sp>
        <p:nvSpPr>
          <p:cNvPr id="138" name="Google Shape;138;p16"/>
          <p:cNvSpPr txBox="1"/>
          <p:nvPr/>
        </p:nvSpPr>
        <p:spPr>
          <a:xfrm>
            <a:off x="11734800" y="6581775"/>
            <a:ext cx="76200"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66666"/>
                </a:solidFill>
                <a:latin typeface="Open Sans"/>
                <a:ea typeface="Open Sans"/>
                <a:cs typeface="Open Sans"/>
                <a:sym typeface="Open Sans"/>
              </a:rPr>
              <a:t>4</a:t>
            </a:r>
            <a:endParaRPr/>
          </a:p>
        </p:txBody>
      </p:sp>
      <p:sp>
        <p:nvSpPr>
          <p:cNvPr id="139" name="Google Shape;139;p16"/>
          <p:cNvSpPr txBox="1"/>
          <p:nvPr/>
        </p:nvSpPr>
        <p:spPr>
          <a:xfrm>
            <a:off x="571500" y="1181100"/>
            <a:ext cx="5200650"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33333"/>
                </a:solidFill>
                <a:latin typeface="Merriweather"/>
                <a:ea typeface="Merriweather"/>
                <a:cs typeface="Merriweather"/>
                <a:sym typeface="Merriweather"/>
              </a:rPr>
              <a:t>Base Paper Analysis</a:t>
            </a:r>
            <a:endParaRPr/>
          </a:p>
        </p:txBody>
      </p:sp>
      <p:sp>
        <p:nvSpPr>
          <p:cNvPr id="140" name="Google Shape;140;p16"/>
          <p:cNvSpPr/>
          <p:nvPr/>
        </p:nvSpPr>
        <p:spPr>
          <a:xfrm>
            <a:off x="571500" y="1571625"/>
            <a:ext cx="4953000" cy="19050"/>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1" name="Google Shape;141;p16"/>
          <p:cNvSpPr txBox="1"/>
          <p:nvPr/>
        </p:nvSpPr>
        <p:spPr>
          <a:xfrm>
            <a:off x="571500" y="1781175"/>
            <a:ext cx="4953000" cy="2857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2C3E50"/>
                </a:solidFill>
                <a:latin typeface="Open Sans"/>
                <a:ea typeface="Open Sans"/>
                <a:cs typeface="Open Sans"/>
                <a:sym typeface="Open Sans"/>
              </a:rPr>
              <a:t>Abdallah et al. (2024)</a:t>
            </a:r>
            <a:endParaRPr/>
          </a:p>
        </p:txBody>
      </p:sp>
      <p:sp>
        <p:nvSpPr>
          <p:cNvPr id="142" name="Google Shape;142;p16"/>
          <p:cNvSpPr txBox="1"/>
          <p:nvPr/>
        </p:nvSpPr>
        <p:spPr>
          <a:xfrm>
            <a:off x="571500" y="2114550"/>
            <a:ext cx="49530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1" u="none" strike="noStrike" cap="none">
                <a:solidFill>
                  <a:srgbClr val="666666"/>
                </a:solidFill>
                <a:latin typeface="Open Sans"/>
                <a:ea typeface="Open Sans"/>
                <a:cs typeface="Open Sans"/>
                <a:sym typeface="Open Sans"/>
              </a:rPr>
              <a:t>International Journal of Safety and Security Engineering</a:t>
            </a:r>
            <a:endParaRPr/>
          </a:p>
        </p:txBody>
      </p:sp>
      <p:sp>
        <p:nvSpPr>
          <p:cNvPr id="143" name="Google Shape;143;p16"/>
          <p:cNvSpPr txBox="1"/>
          <p:nvPr/>
        </p:nvSpPr>
        <p:spPr>
          <a:xfrm>
            <a:off x="6381750" y="1466850"/>
            <a:ext cx="5200650"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33333"/>
                </a:solidFill>
                <a:latin typeface="Merriweather"/>
                <a:ea typeface="Merriweather"/>
                <a:cs typeface="Merriweather"/>
                <a:sym typeface="Merriweather"/>
              </a:rPr>
              <a:t>The Research Gap</a:t>
            </a:r>
            <a:endParaRPr/>
          </a:p>
        </p:txBody>
      </p:sp>
      <p:sp>
        <p:nvSpPr>
          <p:cNvPr id="144" name="Google Shape;144;p16"/>
          <p:cNvSpPr/>
          <p:nvPr/>
        </p:nvSpPr>
        <p:spPr>
          <a:xfrm>
            <a:off x="6381750" y="1857375"/>
            <a:ext cx="4953000" cy="19050"/>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5" name="Google Shape;145;p16"/>
          <p:cNvSpPr txBox="1"/>
          <p:nvPr/>
        </p:nvSpPr>
        <p:spPr>
          <a:xfrm>
            <a:off x="6381750" y="2066925"/>
            <a:ext cx="4953000" cy="857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a:solidFill>
                  <a:srgbClr val="2C3E50"/>
                </a:solidFill>
                <a:latin typeface="Open Sans"/>
                <a:ea typeface="Open Sans"/>
                <a:cs typeface="Open Sans"/>
                <a:sym typeface="Open Sans"/>
              </a:rPr>
              <a:t>While Abdallah et al. provide a strong mathematical foundation, our survey identified critical limitations in practical applicability:</a:t>
            </a:r>
            <a:endParaRPr/>
          </a:p>
        </p:txBody>
      </p:sp>
      <p:sp>
        <p:nvSpPr>
          <p:cNvPr id="146" name="Google Shape;146;p16"/>
          <p:cNvSpPr txBox="1"/>
          <p:nvPr/>
        </p:nvSpPr>
        <p:spPr>
          <a:xfrm>
            <a:off x="6381750" y="5876925"/>
            <a:ext cx="4953000" cy="571500"/>
          </a:xfrm>
          <a:prstGeom prst="rect">
            <a:avLst/>
          </a:prstGeom>
          <a:noFill/>
          <a:ln>
            <a:noFill/>
          </a:ln>
        </p:spPr>
        <p:txBody>
          <a:bodyPr spcFirstLastPara="1" wrap="square" lIns="26670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3333"/>
                </a:solidFill>
                <a:latin typeface="Open Sans"/>
                <a:ea typeface="Open Sans"/>
                <a:cs typeface="Open Sans"/>
                <a:sym typeface="Open Sans"/>
              </a:rPr>
              <a:t>Our project bridges this gap by building a real-time Scapy engine.</a:t>
            </a:r>
            <a:endParaRPr/>
          </a:p>
        </p:txBody>
      </p:sp>
      <p:sp>
        <p:nvSpPr>
          <p:cNvPr id="147" name="Google Shape;147;p16"/>
          <p:cNvSpPr txBox="1"/>
          <p:nvPr/>
        </p:nvSpPr>
        <p:spPr>
          <a:xfrm>
            <a:off x="685800" y="2562225"/>
            <a:ext cx="7620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2C3E50"/>
                </a:solidFill>
                <a:latin typeface="Open Sans"/>
                <a:ea typeface="Open Sans"/>
                <a:cs typeface="Open Sans"/>
                <a:sym typeface="Open Sans"/>
              </a:rPr>
              <a:t>•</a:t>
            </a:r>
            <a:endParaRPr/>
          </a:p>
        </p:txBody>
      </p:sp>
      <p:sp>
        <p:nvSpPr>
          <p:cNvPr id="148" name="Google Shape;148;p16"/>
          <p:cNvSpPr txBox="1"/>
          <p:nvPr/>
        </p:nvSpPr>
        <p:spPr>
          <a:xfrm>
            <a:off x="762000" y="2562225"/>
            <a:ext cx="4762500" cy="857250"/>
          </a:xfrm>
          <a:prstGeom prst="rect">
            <a:avLst/>
          </a:prstGeom>
          <a:noFill/>
          <a:ln>
            <a:noFill/>
          </a:ln>
        </p:spPr>
        <p:txBody>
          <a:bodyPr spcFirstLastPara="1" wrap="square" lIns="7620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3333"/>
                </a:solidFill>
                <a:latin typeface="Open Sans"/>
                <a:ea typeface="Open Sans"/>
                <a:cs typeface="Open Sans"/>
                <a:sym typeface="Open Sans"/>
              </a:rPr>
              <a:t>Key Innovation:</a:t>
            </a:r>
            <a:r>
              <a:rPr lang="en-US" sz="1500" b="0" i="0" u="none" strike="noStrike" cap="none">
                <a:solidFill>
                  <a:srgbClr val="2C3E50"/>
                </a:solidFill>
                <a:latin typeface="Open Sans"/>
                <a:ea typeface="Open Sans"/>
                <a:cs typeface="Open Sans"/>
                <a:sym typeface="Open Sans"/>
              </a:rPr>
              <a:t> Proposed a highly specialized binary classifier (ADS-SVM) using a Radial Basis Function (RBF) kernel.</a:t>
            </a:r>
            <a:endParaRPr/>
          </a:p>
        </p:txBody>
      </p:sp>
      <p:sp>
        <p:nvSpPr>
          <p:cNvPr id="149" name="Google Shape;149;p16"/>
          <p:cNvSpPr txBox="1"/>
          <p:nvPr/>
        </p:nvSpPr>
        <p:spPr>
          <a:xfrm>
            <a:off x="685800" y="3562350"/>
            <a:ext cx="7620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2C3E50"/>
                </a:solidFill>
                <a:latin typeface="Open Sans"/>
                <a:ea typeface="Open Sans"/>
                <a:cs typeface="Open Sans"/>
                <a:sym typeface="Open Sans"/>
              </a:rPr>
              <a:t>•</a:t>
            </a:r>
            <a:endParaRPr/>
          </a:p>
        </p:txBody>
      </p:sp>
      <p:sp>
        <p:nvSpPr>
          <p:cNvPr id="150" name="Google Shape;150;p16"/>
          <p:cNvSpPr txBox="1"/>
          <p:nvPr/>
        </p:nvSpPr>
        <p:spPr>
          <a:xfrm>
            <a:off x="762000" y="3562350"/>
            <a:ext cx="4762500" cy="857250"/>
          </a:xfrm>
          <a:prstGeom prst="rect">
            <a:avLst/>
          </a:prstGeom>
          <a:noFill/>
          <a:ln>
            <a:noFill/>
          </a:ln>
        </p:spPr>
        <p:txBody>
          <a:bodyPr spcFirstLastPara="1" wrap="square" lIns="7620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3333"/>
                </a:solidFill>
                <a:latin typeface="Open Sans"/>
                <a:ea typeface="Open Sans"/>
                <a:cs typeface="Open Sans"/>
                <a:sym typeface="Open Sans"/>
              </a:rPr>
              <a:t>Performance:</a:t>
            </a:r>
            <a:r>
              <a:rPr lang="en-US" sz="1500" b="0" i="0" u="none" strike="noStrike" cap="none">
                <a:solidFill>
                  <a:srgbClr val="2C3E50"/>
                </a:solidFill>
                <a:latin typeface="Open Sans"/>
                <a:ea typeface="Open Sans"/>
                <a:cs typeface="Open Sans"/>
                <a:sym typeface="Open Sans"/>
              </a:rPr>
              <a:t> Achieved </a:t>
            </a:r>
            <a:r>
              <a:rPr lang="en-US" sz="1500" b="1" i="0" u="none" strike="noStrike" cap="none">
                <a:solidFill>
                  <a:srgbClr val="333333"/>
                </a:solidFill>
                <a:latin typeface="Open Sans"/>
                <a:ea typeface="Open Sans"/>
                <a:cs typeface="Open Sans"/>
                <a:sym typeface="Open Sans"/>
              </a:rPr>
              <a:t>99.96% detection accuracy</a:t>
            </a:r>
            <a:r>
              <a:rPr lang="en-US" sz="1500" b="0" i="0" u="none" strike="noStrike" cap="none">
                <a:solidFill>
                  <a:srgbClr val="2C3E50"/>
                </a:solidFill>
                <a:latin typeface="Open Sans"/>
                <a:ea typeface="Open Sans"/>
                <a:cs typeface="Open Sans"/>
                <a:sym typeface="Open Sans"/>
              </a:rPr>
              <a:t> by focusing on specific behavioral anomalies like Packet Delivery Ratio (PDR).</a:t>
            </a:r>
            <a:endParaRPr/>
          </a:p>
        </p:txBody>
      </p:sp>
      <p:sp>
        <p:nvSpPr>
          <p:cNvPr id="151" name="Google Shape;151;p16"/>
          <p:cNvSpPr txBox="1"/>
          <p:nvPr/>
        </p:nvSpPr>
        <p:spPr>
          <a:xfrm>
            <a:off x="685800" y="4562475"/>
            <a:ext cx="7620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2C3E50"/>
                </a:solidFill>
                <a:latin typeface="Open Sans"/>
                <a:ea typeface="Open Sans"/>
                <a:cs typeface="Open Sans"/>
                <a:sym typeface="Open Sans"/>
              </a:rPr>
              <a:t>•</a:t>
            </a:r>
            <a:endParaRPr/>
          </a:p>
        </p:txBody>
      </p:sp>
      <p:sp>
        <p:nvSpPr>
          <p:cNvPr id="152" name="Google Shape;152;p16"/>
          <p:cNvSpPr txBox="1"/>
          <p:nvPr/>
        </p:nvSpPr>
        <p:spPr>
          <a:xfrm>
            <a:off x="762000" y="4562475"/>
            <a:ext cx="4762500" cy="857250"/>
          </a:xfrm>
          <a:prstGeom prst="rect">
            <a:avLst/>
          </a:prstGeom>
          <a:noFill/>
          <a:ln>
            <a:noFill/>
          </a:ln>
        </p:spPr>
        <p:txBody>
          <a:bodyPr spcFirstLastPara="1" wrap="square" lIns="76200" tIns="0" rIns="0" bIns="0" anchor="t" anchorCtr="0">
            <a:spAutoFit/>
          </a:bodyPr>
          <a:lstStyle/>
          <a:p>
            <a:pPr marL="0" marR="0" lvl="0" indent="0" algn="l" rtl="0">
              <a:lnSpc>
                <a:spcPct val="150000"/>
              </a:lnSpc>
              <a:spcBef>
                <a:spcPts val="0"/>
              </a:spcBef>
              <a:spcAft>
                <a:spcPts val="0"/>
              </a:spcAft>
              <a:buNone/>
            </a:pPr>
            <a:r>
              <a:rPr lang="en-US" sz="1500" b="1" i="0" u="none" strike="noStrike" cap="none">
                <a:solidFill>
                  <a:srgbClr val="333333"/>
                </a:solidFill>
                <a:latin typeface="Open Sans"/>
                <a:ea typeface="Open Sans"/>
                <a:cs typeface="Open Sans"/>
                <a:sym typeface="Open Sans"/>
              </a:rPr>
              <a:t>Why we chose it:</a:t>
            </a:r>
            <a:r>
              <a:rPr lang="en-US" sz="1500" b="0" i="0" u="none" strike="noStrike" cap="none">
                <a:solidFill>
                  <a:srgbClr val="2C3E50"/>
                </a:solidFill>
                <a:latin typeface="Open Sans"/>
                <a:ea typeface="Open Sans"/>
                <a:cs typeface="Open Sans"/>
                <a:sym typeface="Open Sans"/>
              </a:rPr>
              <a:t> It moves beyond simple signature matching, offering a robust theoretical framework for handling non-linear network data.</a:t>
            </a:r>
            <a:endParaRPr/>
          </a:p>
        </p:txBody>
      </p:sp>
      <p:sp>
        <p:nvSpPr>
          <p:cNvPr id="153" name="Google Shape;153;p16"/>
          <p:cNvSpPr txBox="1"/>
          <p:nvPr/>
        </p:nvSpPr>
        <p:spPr>
          <a:xfrm>
            <a:off x="6524625" y="3114675"/>
            <a:ext cx="4810125" cy="11430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sz="1500" b="1" i="0" u="none" strike="noStrike" cap="none">
                <a:solidFill>
                  <a:srgbClr val="333333"/>
                </a:solidFill>
                <a:latin typeface="Open Sans"/>
                <a:ea typeface="Open Sans"/>
                <a:cs typeface="Open Sans"/>
                <a:sym typeface="Open Sans"/>
              </a:rPr>
              <a:t>Simulation Dependency:</a:t>
            </a:r>
            <a:r>
              <a:rPr lang="en-US" sz="1500" b="0" i="0" u="none" strike="noStrike" cap="none">
                <a:solidFill>
                  <a:srgbClr val="2C3E50"/>
                </a:solidFill>
                <a:latin typeface="Open Sans"/>
                <a:ea typeface="Open Sans"/>
                <a:cs typeface="Open Sans"/>
                <a:sym typeface="Open Sans"/>
              </a:rPr>
              <a:t> </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2C3E50"/>
                </a:solidFill>
                <a:latin typeface="Open Sans"/>
                <a:ea typeface="Open Sans"/>
                <a:cs typeface="Open Sans"/>
                <a:sym typeface="Open Sans"/>
              </a:rPr>
              <a:t> Existing results are based entirely on </a:t>
            </a:r>
            <a:r>
              <a:rPr lang="en-US" sz="1500" b="0" i="1" u="none" strike="noStrike" cap="none">
                <a:solidFill>
                  <a:srgbClr val="2C3E50"/>
                </a:solidFill>
                <a:latin typeface="Open Sans"/>
                <a:ea typeface="Open Sans"/>
                <a:cs typeface="Open Sans"/>
                <a:sym typeface="Open Sans"/>
              </a:rPr>
              <a:t>OMNET++</a:t>
            </a:r>
            <a:r>
              <a:rPr lang="en-US" sz="1500" b="0" i="0" u="none" strike="noStrike" cap="none">
                <a:solidFill>
                  <a:srgbClr val="2C3E50"/>
                </a:solidFill>
                <a:latin typeface="Open Sans"/>
                <a:ea typeface="Open Sans"/>
                <a:cs typeface="Open Sans"/>
                <a:sym typeface="Open Sans"/>
              </a:rPr>
              <a:t> simulations, which often fail to capture real-world noise and packet loss.</a:t>
            </a:r>
            <a:endParaRPr/>
          </a:p>
        </p:txBody>
      </p:sp>
      <p:sp>
        <p:nvSpPr>
          <p:cNvPr id="154" name="Google Shape;154;p16"/>
          <p:cNvSpPr/>
          <p:nvPr/>
        </p:nvSpPr>
        <p:spPr>
          <a:xfrm>
            <a:off x="6381750" y="3114675"/>
            <a:ext cx="38100" cy="114300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5" name="Google Shape;155;p16"/>
          <p:cNvSpPr txBox="1"/>
          <p:nvPr/>
        </p:nvSpPr>
        <p:spPr>
          <a:xfrm>
            <a:off x="6524625" y="4448175"/>
            <a:ext cx="4810125" cy="1143000"/>
          </a:xfrm>
          <a:prstGeom prst="rect">
            <a:avLst/>
          </a:prstGeom>
          <a:noFill/>
          <a:ln>
            <a:noFill/>
          </a:ln>
        </p:spPr>
        <p:txBody>
          <a:bodyPr spcFirstLastPara="1" wrap="square" lIns="0" tIns="0" rIns="0" bIns="0" anchor="t" anchorCtr="0">
            <a:spAutoFit/>
          </a:bodyPr>
          <a:lstStyle/>
          <a:p>
            <a:pPr marL="0" marR="0" lvl="0" indent="0" algn="l" rtl="0">
              <a:lnSpc>
                <a:spcPct val="125000"/>
              </a:lnSpc>
              <a:spcBef>
                <a:spcPts val="0"/>
              </a:spcBef>
              <a:spcAft>
                <a:spcPts val="0"/>
              </a:spcAft>
              <a:buNone/>
            </a:pPr>
            <a:r>
              <a:rPr lang="en-US" sz="1500" b="1" i="0" u="none" strike="noStrike" cap="none">
                <a:solidFill>
                  <a:srgbClr val="333333"/>
                </a:solidFill>
                <a:latin typeface="Open Sans"/>
                <a:ea typeface="Open Sans"/>
                <a:cs typeface="Open Sans"/>
                <a:sym typeface="Open Sans"/>
              </a:rPr>
              <a:t>Lack of Deployable Tools:</a:t>
            </a:r>
            <a:r>
              <a:rPr lang="en-US" sz="1500" b="0" i="0" u="none" strike="noStrike" cap="none">
                <a:solidFill>
                  <a:srgbClr val="2C3E50"/>
                </a:solidFill>
                <a:latin typeface="Open Sans"/>
                <a:ea typeface="Open Sans"/>
                <a:cs typeface="Open Sans"/>
                <a:sym typeface="Open Sans"/>
              </a:rPr>
              <a:t> </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2C3E50"/>
                </a:solidFill>
                <a:latin typeface="Open Sans"/>
                <a:ea typeface="Open Sans"/>
                <a:cs typeface="Open Sans"/>
                <a:sym typeface="Open Sans"/>
              </a:rPr>
              <a:t> There is no open-source Python implementation available for network administrators to deploy on live hardware.</a:t>
            </a:r>
            <a:endParaRPr/>
          </a:p>
        </p:txBody>
      </p:sp>
      <p:sp>
        <p:nvSpPr>
          <p:cNvPr id="156" name="Google Shape;156;p16"/>
          <p:cNvSpPr/>
          <p:nvPr/>
        </p:nvSpPr>
        <p:spPr>
          <a:xfrm>
            <a:off x="6381750" y="4448175"/>
            <a:ext cx="38100" cy="114300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7" name="Google Shape;157;p16" descr="image.png"/>
          <p:cNvPicPr preferRelativeResize="0"/>
          <p:nvPr/>
        </p:nvPicPr>
        <p:blipFill rotWithShape="1">
          <a:blip r:embed="rId5">
            <a:alphaModFix/>
          </a:blip>
          <a:srcRect/>
          <a:stretch/>
        </p:blipFill>
        <p:spPr>
          <a:xfrm>
            <a:off x="6381750" y="5924550"/>
            <a:ext cx="171450" cy="190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1"/>
        <p:cNvGrpSpPr/>
        <p:nvPr/>
      </p:nvGrpSpPr>
      <p:grpSpPr>
        <a:xfrm>
          <a:off x="0" y="0"/>
          <a:ext cx="0" cy="0"/>
          <a:chOff x="0" y="0"/>
          <a:chExt cx="0" cy="0"/>
        </a:xfrm>
      </p:grpSpPr>
      <p:pic>
        <p:nvPicPr>
          <p:cNvPr id="162" name="Google Shape;162;p17" descr="image.png"/>
          <p:cNvPicPr preferRelativeResize="0"/>
          <p:nvPr/>
        </p:nvPicPr>
        <p:blipFill rotWithShape="1">
          <a:blip r:embed="rId3">
            <a:alphaModFix/>
          </a:blip>
          <a:srcRect/>
          <a:stretch/>
        </p:blipFill>
        <p:spPr>
          <a:xfrm>
            <a:off x="0" y="6477000"/>
            <a:ext cx="12192000" cy="381000"/>
          </a:xfrm>
          <a:prstGeom prst="rect">
            <a:avLst/>
          </a:prstGeom>
          <a:noFill/>
          <a:ln>
            <a:noFill/>
          </a:ln>
        </p:spPr>
      </p:pic>
      <p:pic>
        <p:nvPicPr>
          <p:cNvPr id="163" name="Google Shape;163;p17" descr="image.png"/>
          <p:cNvPicPr preferRelativeResize="0"/>
          <p:nvPr/>
        </p:nvPicPr>
        <p:blipFill rotWithShape="1">
          <a:blip r:embed="rId4">
            <a:alphaModFix/>
          </a:blip>
          <a:srcRect/>
          <a:stretch/>
        </p:blipFill>
        <p:spPr>
          <a:xfrm>
            <a:off x="571500" y="1228725"/>
            <a:ext cx="3555950" cy="4168229"/>
          </a:xfrm>
          <a:prstGeom prst="rect">
            <a:avLst/>
          </a:prstGeom>
          <a:noFill/>
          <a:ln>
            <a:noFill/>
          </a:ln>
        </p:spPr>
      </p:pic>
      <p:pic>
        <p:nvPicPr>
          <p:cNvPr id="164" name="Google Shape;164;p17" descr="image.png"/>
          <p:cNvPicPr preferRelativeResize="0"/>
          <p:nvPr/>
        </p:nvPicPr>
        <p:blipFill rotWithShape="1">
          <a:blip r:embed="rId5">
            <a:alphaModFix/>
          </a:blip>
          <a:srcRect/>
          <a:stretch/>
        </p:blipFill>
        <p:spPr>
          <a:xfrm>
            <a:off x="4317950" y="1228725"/>
            <a:ext cx="3555950" cy="4168229"/>
          </a:xfrm>
          <a:prstGeom prst="rect">
            <a:avLst/>
          </a:prstGeom>
          <a:noFill/>
          <a:ln>
            <a:noFill/>
          </a:ln>
        </p:spPr>
      </p:pic>
      <p:pic>
        <p:nvPicPr>
          <p:cNvPr id="165" name="Google Shape;165;p17" descr="image.png"/>
          <p:cNvPicPr preferRelativeResize="0"/>
          <p:nvPr/>
        </p:nvPicPr>
        <p:blipFill rotWithShape="1">
          <a:blip r:embed="rId6">
            <a:alphaModFix/>
          </a:blip>
          <a:srcRect/>
          <a:stretch/>
        </p:blipFill>
        <p:spPr>
          <a:xfrm>
            <a:off x="8064400" y="1228725"/>
            <a:ext cx="3556099" cy="4168229"/>
          </a:xfrm>
          <a:prstGeom prst="rect">
            <a:avLst/>
          </a:prstGeom>
          <a:noFill/>
          <a:ln>
            <a:noFill/>
          </a:ln>
        </p:spPr>
      </p:pic>
      <p:sp>
        <p:nvSpPr>
          <p:cNvPr id="166" name="Google Shape;166;p17"/>
          <p:cNvSpPr txBox="1"/>
          <p:nvPr/>
        </p:nvSpPr>
        <p:spPr>
          <a:xfrm>
            <a:off x="571500" y="38100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333333"/>
                </a:solidFill>
                <a:latin typeface="Merriweather"/>
                <a:ea typeface="Merriweather"/>
                <a:cs typeface="Merriweather"/>
                <a:sym typeface="Merriweather"/>
              </a:rPr>
              <a:t>Implementation Phases</a:t>
            </a:r>
            <a:endParaRPr/>
          </a:p>
        </p:txBody>
      </p:sp>
      <p:sp>
        <p:nvSpPr>
          <p:cNvPr id="167" name="Google Shape;167;p17"/>
          <p:cNvSpPr/>
          <p:nvPr/>
        </p:nvSpPr>
        <p:spPr>
          <a:xfrm>
            <a:off x="571500" y="92392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8" name="Google Shape;168;p17"/>
          <p:cNvSpPr txBox="1"/>
          <p:nvPr/>
        </p:nvSpPr>
        <p:spPr>
          <a:xfrm>
            <a:off x="381000" y="6581775"/>
            <a:ext cx="3714750"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66666"/>
                </a:solidFill>
                <a:latin typeface="Open Sans"/>
                <a:ea typeface="Open Sans"/>
                <a:cs typeface="Open Sans"/>
                <a:sym typeface="Open Sans"/>
              </a:rPr>
              <a:t>Design and Implementation of Black Hole Attack Detection</a:t>
            </a:r>
            <a:endParaRPr/>
          </a:p>
        </p:txBody>
      </p:sp>
      <p:sp>
        <p:nvSpPr>
          <p:cNvPr id="169" name="Google Shape;169;p17"/>
          <p:cNvSpPr txBox="1"/>
          <p:nvPr/>
        </p:nvSpPr>
        <p:spPr>
          <a:xfrm>
            <a:off x="11734800" y="6581775"/>
            <a:ext cx="76200"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66666"/>
                </a:solidFill>
                <a:latin typeface="Open Sans"/>
                <a:ea typeface="Open Sans"/>
                <a:cs typeface="Open Sans"/>
                <a:sym typeface="Open Sans"/>
              </a:rPr>
              <a:t>5</a:t>
            </a:r>
            <a:endParaRPr/>
          </a:p>
        </p:txBody>
      </p:sp>
      <p:sp>
        <p:nvSpPr>
          <p:cNvPr id="170" name="Google Shape;170;p17"/>
          <p:cNvSpPr txBox="1"/>
          <p:nvPr/>
        </p:nvSpPr>
        <p:spPr>
          <a:xfrm>
            <a:off x="771525" y="1457325"/>
            <a:ext cx="331369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333333"/>
                </a:solidFill>
                <a:latin typeface="Merriweather"/>
                <a:ea typeface="Merriweather"/>
                <a:cs typeface="Merriweather"/>
                <a:sym typeface="Merriweather"/>
              </a:rPr>
              <a:t>Phase 1: Model Training</a:t>
            </a:r>
            <a:endParaRPr/>
          </a:p>
        </p:txBody>
      </p:sp>
      <p:sp>
        <p:nvSpPr>
          <p:cNvPr id="171" name="Google Shape;171;p17"/>
          <p:cNvSpPr/>
          <p:nvPr/>
        </p:nvSpPr>
        <p:spPr>
          <a:xfrm>
            <a:off x="771525" y="1790700"/>
            <a:ext cx="315590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2" name="Google Shape;172;p17"/>
          <p:cNvSpPr txBox="1"/>
          <p:nvPr/>
        </p:nvSpPr>
        <p:spPr>
          <a:xfrm>
            <a:off x="771525" y="2072729"/>
            <a:ext cx="3313695"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888888"/>
                </a:solidFill>
                <a:latin typeface="Open Sans"/>
                <a:ea typeface="Open Sans"/>
                <a:cs typeface="Open Sans"/>
                <a:sym typeface="Open Sans"/>
              </a:rPr>
              <a:t>SVM &amp; DATASET</a:t>
            </a:r>
            <a:endParaRPr/>
          </a:p>
        </p:txBody>
      </p:sp>
      <p:sp>
        <p:nvSpPr>
          <p:cNvPr id="173" name="Google Shape;173;p17"/>
          <p:cNvSpPr txBox="1"/>
          <p:nvPr/>
        </p:nvSpPr>
        <p:spPr>
          <a:xfrm>
            <a:off x="4517975" y="1457325"/>
            <a:ext cx="331369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333333"/>
                </a:solidFill>
                <a:latin typeface="Merriweather"/>
                <a:ea typeface="Merriweather"/>
                <a:cs typeface="Merriweather"/>
                <a:sym typeface="Merriweather"/>
              </a:rPr>
              <a:t>Phase 2: Real-Time Capture</a:t>
            </a:r>
            <a:endParaRPr/>
          </a:p>
        </p:txBody>
      </p:sp>
      <p:sp>
        <p:nvSpPr>
          <p:cNvPr id="174" name="Google Shape;174;p17"/>
          <p:cNvSpPr/>
          <p:nvPr/>
        </p:nvSpPr>
        <p:spPr>
          <a:xfrm>
            <a:off x="4517975" y="1790700"/>
            <a:ext cx="315590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5" name="Google Shape;175;p17"/>
          <p:cNvSpPr txBox="1"/>
          <p:nvPr/>
        </p:nvSpPr>
        <p:spPr>
          <a:xfrm>
            <a:off x="4517975" y="2072729"/>
            <a:ext cx="3313695"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888888"/>
                </a:solidFill>
                <a:latin typeface="Open Sans"/>
                <a:ea typeface="Open Sans"/>
                <a:cs typeface="Open Sans"/>
                <a:sym typeface="Open Sans"/>
              </a:rPr>
              <a:t>PACKET SNIFFING ENGINE</a:t>
            </a:r>
            <a:endParaRPr/>
          </a:p>
        </p:txBody>
      </p:sp>
      <p:sp>
        <p:nvSpPr>
          <p:cNvPr id="176" name="Google Shape;176;p17"/>
          <p:cNvSpPr txBox="1"/>
          <p:nvPr/>
        </p:nvSpPr>
        <p:spPr>
          <a:xfrm>
            <a:off x="8264425" y="1457325"/>
            <a:ext cx="3313851"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333333"/>
                </a:solidFill>
                <a:latin typeface="Merriweather"/>
                <a:ea typeface="Merriweather"/>
                <a:cs typeface="Merriweather"/>
                <a:sym typeface="Merriweather"/>
              </a:rPr>
              <a:t>Phase 3: Visualization UI</a:t>
            </a:r>
            <a:endParaRPr/>
          </a:p>
        </p:txBody>
      </p:sp>
      <p:sp>
        <p:nvSpPr>
          <p:cNvPr id="177" name="Google Shape;177;p17"/>
          <p:cNvSpPr/>
          <p:nvPr/>
        </p:nvSpPr>
        <p:spPr>
          <a:xfrm>
            <a:off x="8264425" y="1790700"/>
            <a:ext cx="315604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8" name="Google Shape;178;p17"/>
          <p:cNvSpPr txBox="1"/>
          <p:nvPr/>
        </p:nvSpPr>
        <p:spPr>
          <a:xfrm>
            <a:off x="8264425" y="2072729"/>
            <a:ext cx="3313851"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888888"/>
                </a:solidFill>
                <a:latin typeface="Open Sans"/>
                <a:ea typeface="Open Sans"/>
                <a:cs typeface="Open Sans"/>
                <a:sym typeface="Open Sans"/>
              </a:rPr>
              <a:t>DASHBOARD &amp; ALERTS</a:t>
            </a:r>
            <a:endParaRPr/>
          </a:p>
        </p:txBody>
      </p:sp>
      <p:sp>
        <p:nvSpPr>
          <p:cNvPr id="179" name="Google Shape;179;p17"/>
          <p:cNvSpPr txBox="1"/>
          <p:nvPr/>
        </p:nvSpPr>
        <p:spPr>
          <a:xfrm>
            <a:off x="895350" y="2396579"/>
            <a:ext cx="66675"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44444"/>
                </a:solidFill>
                <a:latin typeface="Open Sans"/>
                <a:ea typeface="Open Sans"/>
                <a:cs typeface="Open Sans"/>
                <a:sym typeface="Open Sans"/>
              </a:rPr>
              <a:t>•</a:t>
            </a:r>
            <a:endParaRPr/>
          </a:p>
        </p:txBody>
      </p:sp>
      <p:sp>
        <p:nvSpPr>
          <p:cNvPr id="180" name="Google Shape;180;p17"/>
          <p:cNvSpPr txBox="1"/>
          <p:nvPr/>
        </p:nvSpPr>
        <p:spPr>
          <a:xfrm>
            <a:off x="962025" y="2396579"/>
            <a:ext cx="2965400" cy="1028700"/>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3333"/>
                </a:solidFill>
                <a:latin typeface="Open Sans"/>
                <a:ea typeface="Open Sans"/>
                <a:cs typeface="Open Sans"/>
                <a:sym typeface="Open Sans"/>
              </a:rPr>
              <a:t>Dataset Acquisition:</a:t>
            </a:r>
            <a:r>
              <a:rPr lang="en-US" sz="1350" b="0" i="0" u="none" strike="noStrike" cap="none">
                <a:solidFill>
                  <a:srgbClr val="444444"/>
                </a:solidFill>
                <a:latin typeface="Open Sans"/>
                <a:ea typeface="Open Sans"/>
                <a:cs typeface="Open Sans"/>
                <a:sym typeface="Open Sans"/>
              </a:rPr>
              <a:t> Using labeled MANET Blackhole Data from </a:t>
            </a:r>
            <a:r>
              <a:rPr lang="en-US" sz="1350" b="0" i="1" u="none" strike="noStrike" cap="none">
                <a:solidFill>
                  <a:srgbClr val="444444"/>
                </a:solidFill>
                <a:latin typeface="Open Sans"/>
                <a:ea typeface="Open Sans"/>
                <a:cs typeface="Open Sans"/>
                <a:sym typeface="Open Sans"/>
              </a:rPr>
              <a:t>Kaggle</a:t>
            </a:r>
            <a:r>
              <a:rPr lang="en-US" sz="1350" b="0" i="0" u="none" strike="noStrike" cap="none">
                <a:solidFill>
                  <a:srgbClr val="444444"/>
                </a:solidFill>
                <a:latin typeface="Open Sans"/>
                <a:ea typeface="Open Sans"/>
                <a:cs typeface="Open Sans"/>
                <a:sym typeface="Open Sans"/>
              </a:rPr>
              <a:t> and </a:t>
            </a:r>
            <a:r>
              <a:rPr lang="en-US" sz="1350" b="0" i="1" u="none" strike="noStrike" cap="none">
                <a:solidFill>
                  <a:srgbClr val="444444"/>
                </a:solidFill>
                <a:latin typeface="Open Sans"/>
                <a:ea typeface="Open Sans"/>
                <a:cs typeface="Open Sans"/>
                <a:sym typeface="Open Sans"/>
              </a:rPr>
              <a:t>NSL-KDD</a:t>
            </a:r>
            <a:r>
              <a:rPr lang="en-US" sz="1350" b="0" i="0" u="none" strike="noStrike" cap="none">
                <a:solidFill>
                  <a:srgbClr val="444444"/>
                </a:solidFill>
                <a:latin typeface="Open Sans"/>
                <a:ea typeface="Open Sans"/>
                <a:cs typeface="Open Sans"/>
                <a:sym typeface="Open Sans"/>
              </a:rPr>
              <a:t> (Standard for intrusion detection).</a:t>
            </a:r>
            <a:endParaRPr/>
          </a:p>
        </p:txBody>
      </p:sp>
      <p:sp>
        <p:nvSpPr>
          <p:cNvPr id="181" name="Google Shape;181;p17"/>
          <p:cNvSpPr txBox="1"/>
          <p:nvPr/>
        </p:nvSpPr>
        <p:spPr>
          <a:xfrm>
            <a:off x="895350" y="3501479"/>
            <a:ext cx="66675"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44444"/>
                </a:solidFill>
                <a:latin typeface="Open Sans"/>
                <a:ea typeface="Open Sans"/>
                <a:cs typeface="Open Sans"/>
                <a:sym typeface="Open Sans"/>
              </a:rPr>
              <a:t>•</a:t>
            </a:r>
            <a:endParaRPr/>
          </a:p>
        </p:txBody>
      </p:sp>
      <p:sp>
        <p:nvSpPr>
          <p:cNvPr id="182" name="Google Shape;182;p17"/>
          <p:cNvSpPr txBox="1"/>
          <p:nvPr/>
        </p:nvSpPr>
        <p:spPr>
          <a:xfrm>
            <a:off x="962025" y="3501479"/>
            <a:ext cx="2965400" cy="771525"/>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3333"/>
                </a:solidFill>
                <a:latin typeface="Open Sans"/>
                <a:ea typeface="Open Sans"/>
                <a:cs typeface="Open Sans"/>
                <a:sym typeface="Open Sans"/>
              </a:rPr>
              <a:t>Preprocessing:</a:t>
            </a:r>
            <a:r>
              <a:rPr lang="en-US" sz="1350" b="0" i="0" u="none" strike="noStrike" cap="none">
                <a:solidFill>
                  <a:srgbClr val="444444"/>
                </a:solidFill>
                <a:latin typeface="Open Sans"/>
                <a:ea typeface="Open Sans"/>
                <a:cs typeface="Open Sans"/>
                <a:sym typeface="Open Sans"/>
              </a:rPr>
              <a:t> Normalizing PDR and Throughput values for fair SVM processing.</a:t>
            </a:r>
            <a:endParaRPr/>
          </a:p>
        </p:txBody>
      </p:sp>
      <p:sp>
        <p:nvSpPr>
          <p:cNvPr id="183" name="Google Shape;183;p17"/>
          <p:cNvSpPr txBox="1"/>
          <p:nvPr/>
        </p:nvSpPr>
        <p:spPr>
          <a:xfrm>
            <a:off x="895350" y="4349204"/>
            <a:ext cx="66675"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44444"/>
                </a:solidFill>
                <a:latin typeface="Open Sans"/>
                <a:ea typeface="Open Sans"/>
                <a:cs typeface="Open Sans"/>
                <a:sym typeface="Open Sans"/>
              </a:rPr>
              <a:t>•</a:t>
            </a:r>
            <a:endParaRPr/>
          </a:p>
        </p:txBody>
      </p:sp>
      <p:sp>
        <p:nvSpPr>
          <p:cNvPr id="184" name="Google Shape;184;p17"/>
          <p:cNvSpPr txBox="1"/>
          <p:nvPr/>
        </p:nvSpPr>
        <p:spPr>
          <a:xfrm>
            <a:off x="962025" y="4349204"/>
            <a:ext cx="2965400" cy="771525"/>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3333"/>
                </a:solidFill>
                <a:latin typeface="Open Sans"/>
                <a:ea typeface="Open Sans"/>
                <a:cs typeface="Open Sans"/>
                <a:sym typeface="Open Sans"/>
              </a:rPr>
              <a:t>Model:</a:t>
            </a:r>
            <a:r>
              <a:rPr lang="en-US" sz="1350" b="0" i="0" u="none" strike="noStrike" cap="none">
                <a:solidFill>
                  <a:srgbClr val="444444"/>
                </a:solidFill>
                <a:latin typeface="Open Sans"/>
                <a:ea typeface="Open Sans"/>
                <a:cs typeface="Open Sans"/>
                <a:sym typeface="Open Sans"/>
              </a:rPr>
              <a:t> Training an SVM with </a:t>
            </a:r>
            <a:r>
              <a:rPr lang="en-US" sz="1350" b="1" i="0" u="none" strike="noStrike" cap="none">
                <a:solidFill>
                  <a:srgbClr val="333333"/>
                </a:solidFill>
                <a:latin typeface="Open Sans"/>
                <a:ea typeface="Open Sans"/>
                <a:cs typeface="Open Sans"/>
                <a:sym typeface="Open Sans"/>
              </a:rPr>
              <a:t>RBF Kernel</a:t>
            </a:r>
            <a:r>
              <a:rPr lang="en-US" sz="1350" b="0" i="0" u="none" strike="noStrike" cap="none">
                <a:solidFill>
                  <a:srgbClr val="444444"/>
                </a:solidFill>
                <a:latin typeface="Open Sans"/>
                <a:ea typeface="Open Sans"/>
                <a:cs typeface="Open Sans"/>
                <a:sym typeface="Open Sans"/>
              </a:rPr>
              <a:t> to handle non-linear relationships.</a:t>
            </a:r>
            <a:endParaRPr/>
          </a:p>
        </p:txBody>
      </p:sp>
      <p:sp>
        <p:nvSpPr>
          <p:cNvPr id="185" name="Google Shape;185;p17"/>
          <p:cNvSpPr txBox="1"/>
          <p:nvPr/>
        </p:nvSpPr>
        <p:spPr>
          <a:xfrm>
            <a:off x="4641800" y="2396579"/>
            <a:ext cx="66675"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44444"/>
                </a:solidFill>
                <a:latin typeface="Open Sans"/>
                <a:ea typeface="Open Sans"/>
                <a:cs typeface="Open Sans"/>
                <a:sym typeface="Open Sans"/>
              </a:rPr>
              <a:t>•</a:t>
            </a:r>
            <a:endParaRPr/>
          </a:p>
        </p:txBody>
      </p:sp>
      <p:sp>
        <p:nvSpPr>
          <p:cNvPr id="186" name="Google Shape;186;p17"/>
          <p:cNvSpPr txBox="1"/>
          <p:nvPr/>
        </p:nvSpPr>
        <p:spPr>
          <a:xfrm>
            <a:off x="4708475" y="2396579"/>
            <a:ext cx="2965400" cy="266700"/>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3333"/>
                </a:solidFill>
                <a:latin typeface="Open Sans"/>
                <a:ea typeface="Open Sans"/>
                <a:cs typeface="Open Sans"/>
                <a:sym typeface="Open Sans"/>
              </a:rPr>
              <a:t>Tool:</a:t>
            </a:r>
            <a:r>
              <a:rPr lang="en-US" sz="1350" b="0" i="0" u="none" strike="noStrike" cap="none">
                <a:solidFill>
                  <a:srgbClr val="444444"/>
                </a:solidFill>
                <a:latin typeface="Open Sans"/>
                <a:ea typeface="Open Sans"/>
                <a:cs typeface="Open Sans"/>
                <a:sym typeface="Open Sans"/>
              </a:rPr>
              <a:t> Scapy (Python Library).</a:t>
            </a:r>
            <a:endParaRPr/>
          </a:p>
        </p:txBody>
      </p:sp>
      <p:sp>
        <p:nvSpPr>
          <p:cNvPr id="187" name="Google Shape;187;p17"/>
          <p:cNvSpPr txBox="1"/>
          <p:nvPr/>
        </p:nvSpPr>
        <p:spPr>
          <a:xfrm>
            <a:off x="4641800" y="2739479"/>
            <a:ext cx="66675"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44444"/>
                </a:solidFill>
                <a:latin typeface="Open Sans"/>
                <a:ea typeface="Open Sans"/>
                <a:cs typeface="Open Sans"/>
                <a:sym typeface="Open Sans"/>
              </a:rPr>
              <a:t>•</a:t>
            </a:r>
            <a:endParaRPr/>
          </a:p>
        </p:txBody>
      </p:sp>
      <p:sp>
        <p:nvSpPr>
          <p:cNvPr id="188" name="Google Shape;188;p17"/>
          <p:cNvSpPr txBox="1"/>
          <p:nvPr/>
        </p:nvSpPr>
        <p:spPr>
          <a:xfrm>
            <a:off x="4708475" y="2739479"/>
            <a:ext cx="2965400" cy="514350"/>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3333"/>
                </a:solidFill>
                <a:latin typeface="Open Sans"/>
                <a:ea typeface="Open Sans"/>
                <a:cs typeface="Open Sans"/>
                <a:sym typeface="Open Sans"/>
              </a:rPr>
              <a:t>Logic:</a:t>
            </a:r>
            <a:r>
              <a:rPr lang="en-US" sz="1350" b="0" i="0" u="none" strike="noStrike" cap="none">
                <a:solidFill>
                  <a:srgbClr val="444444"/>
                </a:solidFill>
                <a:latin typeface="Open Sans"/>
                <a:ea typeface="Open Sans"/>
                <a:cs typeface="Open Sans"/>
                <a:sym typeface="Open Sans"/>
              </a:rPr>
              <a:t> Sniffs live packets on the Wi-Fi interface.</a:t>
            </a:r>
            <a:endParaRPr/>
          </a:p>
        </p:txBody>
      </p:sp>
      <p:sp>
        <p:nvSpPr>
          <p:cNvPr id="189" name="Google Shape;189;p17"/>
          <p:cNvSpPr txBox="1"/>
          <p:nvPr/>
        </p:nvSpPr>
        <p:spPr>
          <a:xfrm>
            <a:off x="4641800" y="3330029"/>
            <a:ext cx="66675"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44444"/>
                </a:solidFill>
                <a:latin typeface="Open Sans"/>
                <a:ea typeface="Open Sans"/>
                <a:cs typeface="Open Sans"/>
                <a:sym typeface="Open Sans"/>
              </a:rPr>
              <a:t>•</a:t>
            </a:r>
            <a:endParaRPr/>
          </a:p>
        </p:txBody>
      </p:sp>
      <p:sp>
        <p:nvSpPr>
          <p:cNvPr id="190" name="Google Shape;190;p17"/>
          <p:cNvSpPr txBox="1"/>
          <p:nvPr/>
        </p:nvSpPr>
        <p:spPr>
          <a:xfrm>
            <a:off x="4708475" y="3330029"/>
            <a:ext cx="2965400" cy="514350"/>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3333"/>
                </a:solidFill>
                <a:latin typeface="Open Sans"/>
                <a:ea typeface="Open Sans"/>
                <a:cs typeface="Open Sans"/>
                <a:sym typeface="Open Sans"/>
              </a:rPr>
              <a:t>Windowing:</a:t>
            </a:r>
            <a:r>
              <a:rPr lang="en-US" sz="1350" b="0" i="0" u="none" strike="noStrike" cap="none">
                <a:solidFill>
                  <a:srgbClr val="444444"/>
                </a:solidFill>
                <a:latin typeface="Open Sans"/>
                <a:ea typeface="Open Sans"/>
                <a:cs typeface="Open Sans"/>
                <a:sym typeface="Open Sans"/>
              </a:rPr>
              <a:t> Aggregates packets every 5 seconds.</a:t>
            </a:r>
            <a:endParaRPr/>
          </a:p>
        </p:txBody>
      </p:sp>
      <p:sp>
        <p:nvSpPr>
          <p:cNvPr id="191" name="Google Shape;191;p17"/>
          <p:cNvSpPr txBox="1"/>
          <p:nvPr/>
        </p:nvSpPr>
        <p:spPr>
          <a:xfrm>
            <a:off x="4641800" y="3920579"/>
            <a:ext cx="66675"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44444"/>
                </a:solidFill>
                <a:latin typeface="Open Sans"/>
                <a:ea typeface="Open Sans"/>
                <a:cs typeface="Open Sans"/>
                <a:sym typeface="Open Sans"/>
              </a:rPr>
              <a:t>•</a:t>
            </a:r>
            <a:endParaRPr/>
          </a:p>
        </p:txBody>
      </p:sp>
      <p:sp>
        <p:nvSpPr>
          <p:cNvPr id="192" name="Google Shape;192;p17"/>
          <p:cNvSpPr txBox="1"/>
          <p:nvPr/>
        </p:nvSpPr>
        <p:spPr>
          <a:xfrm>
            <a:off x="4708475" y="3920579"/>
            <a:ext cx="2965400" cy="771525"/>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3333"/>
                </a:solidFill>
                <a:latin typeface="Open Sans"/>
                <a:ea typeface="Open Sans"/>
                <a:cs typeface="Open Sans"/>
                <a:sym typeface="Open Sans"/>
              </a:rPr>
              <a:t>Calculation:</a:t>
            </a:r>
            <a:r>
              <a:rPr lang="en-US" sz="1350" b="0" i="0" u="none" strike="noStrike" cap="none">
                <a:solidFill>
                  <a:srgbClr val="444444"/>
                </a:solidFill>
                <a:latin typeface="Open Sans"/>
                <a:ea typeface="Open Sans"/>
                <a:cs typeface="Open Sans"/>
                <a:sym typeface="Open Sans"/>
              </a:rPr>
              <a:t> Computes live Packet Delivery Ratio (PDR) by comparing Sent vs. Received ACKs.</a:t>
            </a:r>
            <a:endParaRPr/>
          </a:p>
        </p:txBody>
      </p:sp>
      <p:sp>
        <p:nvSpPr>
          <p:cNvPr id="193" name="Google Shape;193;p17"/>
          <p:cNvSpPr txBox="1"/>
          <p:nvPr/>
        </p:nvSpPr>
        <p:spPr>
          <a:xfrm>
            <a:off x="8388250" y="2396579"/>
            <a:ext cx="66675"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44444"/>
                </a:solidFill>
                <a:latin typeface="Open Sans"/>
                <a:ea typeface="Open Sans"/>
                <a:cs typeface="Open Sans"/>
                <a:sym typeface="Open Sans"/>
              </a:rPr>
              <a:t>•</a:t>
            </a:r>
            <a:endParaRPr/>
          </a:p>
        </p:txBody>
      </p:sp>
      <p:sp>
        <p:nvSpPr>
          <p:cNvPr id="194" name="Google Shape;194;p17"/>
          <p:cNvSpPr txBox="1"/>
          <p:nvPr/>
        </p:nvSpPr>
        <p:spPr>
          <a:xfrm>
            <a:off x="8454925" y="2396579"/>
            <a:ext cx="2965549" cy="266700"/>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3333"/>
                </a:solidFill>
                <a:latin typeface="Open Sans"/>
                <a:ea typeface="Open Sans"/>
                <a:cs typeface="Open Sans"/>
                <a:sym typeface="Open Sans"/>
              </a:rPr>
              <a:t>Tool:</a:t>
            </a:r>
            <a:r>
              <a:rPr lang="en-US" sz="1350" b="0" i="0" u="none" strike="noStrike" cap="none">
                <a:solidFill>
                  <a:srgbClr val="444444"/>
                </a:solidFill>
                <a:latin typeface="Open Sans"/>
                <a:ea typeface="Open Sans"/>
                <a:cs typeface="Open Sans"/>
                <a:sym typeface="Open Sans"/>
              </a:rPr>
              <a:t> Streamlit Dashboard.</a:t>
            </a:r>
            <a:endParaRPr/>
          </a:p>
        </p:txBody>
      </p:sp>
      <p:sp>
        <p:nvSpPr>
          <p:cNvPr id="195" name="Google Shape;195;p17"/>
          <p:cNvSpPr txBox="1"/>
          <p:nvPr/>
        </p:nvSpPr>
        <p:spPr>
          <a:xfrm>
            <a:off x="8388250" y="2739479"/>
            <a:ext cx="66675"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44444"/>
                </a:solidFill>
                <a:latin typeface="Open Sans"/>
                <a:ea typeface="Open Sans"/>
                <a:cs typeface="Open Sans"/>
                <a:sym typeface="Open Sans"/>
              </a:rPr>
              <a:t>•</a:t>
            </a:r>
            <a:endParaRPr/>
          </a:p>
        </p:txBody>
      </p:sp>
      <p:sp>
        <p:nvSpPr>
          <p:cNvPr id="196" name="Google Shape;196;p17"/>
          <p:cNvSpPr txBox="1"/>
          <p:nvPr/>
        </p:nvSpPr>
        <p:spPr>
          <a:xfrm>
            <a:off x="8454925" y="2739479"/>
            <a:ext cx="2965549" cy="514350"/>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3333"/>
                </a:solidFill>
                <a:latin typeface="Open Sans"/>
                <a:ea typeface="Open Sans"/>
                <a:cs typeface="Open Sans"/>
                <a:sym typeface="Open Sans"/>
              </a:rPr>
              <a:t>Visuals:</a:t>
            </a:r>
            <a:r>
              <a:rPr lang="en-US" sz="1350" b="0" i="0" u="none" strike="noStrike" cap="none">
                <a:solidFill>
                  <a:srgbClr val="444444"/>
                </a:solidFill>
                <a:latin typeface="Open Sans"/>
                <a:ea typeface="Open Sans"/>
                <a:cs typeface="Open Sans"/>
                <a:sym typeface="Open Sans"/>
              </a:rPr>
              <a:t> Scrolling live line graphs of network health.</a:t>
            </a:r>
            <a:endParaRPr/>
          </a:p>
        </p:txBody>
      </p:sp>
      <p:sp>
        <p:nvSpPr>
          <p:cNvPr id="197" name="Google Shape;197;p17"/>
          <p:cNvSpPr txBox="1"/>
          <p:nvPr/>
        </p:nvSpPr>
        <p:spPr>
          <a:xfrm>
            <a:off x="8388250" y="3330029"/>
            <a:ext cx="66675"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44444"/>
                </a:solidFill>
                <a:latin typeface="Open Sans"/>
                <a:ea typeface="Open Sans"/>
                <a:cs typeface="Open Sans"/>
                <a:sym typeface="Open Sans"/>
              </a:rPr>
              <a:t>•</a:t>
            </a:r>
            <a:endParaRPr/>
          </a:p>
        </p:txBody>
      </p:sp>
      <p:sp>
        <p:nvSpPr>
          <p:cNvPr id="198" name="Google Shape;198;p17"/>
          <p:cNvSpPr txBox="1"/>
          <p:nvPr/>
        </p:nvSpPr>
        <p:spPr>
          <a:xfrm>
            <a:off x="8454925" y="3330029"/>
            <a:ext cx="2965549" cy="514350"/>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3333"/>
                </a:solidFill>
                <a:latin typeface="Open Sans"/>
                <a:ea typeface="Open Sans"/>
                <a:cs typeface="Open Sans"/>
                <a:sym typeface="Open Sans"/>
              </a:rPr>
              <a:t>Alerts:</a:t>
            </a:r>
            <a:r>
              <a:rPr lang="en-US" sz="1350" b="0" i="0" u="none" strike="noStrike" cap="none">
                <a:solidFill>
                  <a:srgbClr val="444444"/>
                </a:solidFill>
                <a:latin typeface="Open Sans"/>
                <a:ea typeface="Open Sans"/>
                <a:cs typeface="Open Sans"/>
                <a:sym typeface="Open Sans"/>
              </a:rPr>
              <a:t> Background turns </a:t>
            </a:r>
            <a:r>
              <a:rPr lang="en-US" sz="1350" b="1" i="0" u="none" strike="noStrike" cap="none">
                <a:solidFill>
                  <a:srgbClr val="333333"/>
                </a:solidFill>
                <a:latin typeface="Open Sans"/>
                <a:ea typeface="Open Sans"/>
                <a:cs typeface="Open Sans"/>
                <a:sym typeface="Open Sans"/>
              </a:rPr>
              <a:t>RED</a:t>
            </a:r>
            <a:r>
              <a:rPr lang="en-US" sz="1350" b="0" i="0" u="none" strike="noStrike" cap="none">
                <a:solidFill>
                  <a:srgbClr val="444444"/>
                </a:solidFill>
                <a:latin typeface="Open Sans"/>
                <a:ea typeface="Open Sans"/>
                <a:cs typeface="Open Sans"/>
                <a:sym typeface="Open Sans"/>
              </a:rPr>
              <a:t> upon attack detection.</a:t>
            </a:r>
            <a:endParaRPr/>
          </a:p>
        </p:txBody>
      </p:sp>
      <p:sp>
        <p:nvSpPr>
          <p:cNvPr id="199" name="Google Shape;199;p17"/>
          <p:cNvSpPr txBox="1"/>
          <p:nvPr/>
        </p:nvSpPr>
        <p:spPr>
          <a:xfrm>
            <a:off x="8388250" y="3920579"/>
            <a:ext cx="66675"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44444"/>
                </a:solidFill>
                <a:latin typeface="Open Sans"/>
                <a:ea typeface="Open Sans"/>
                <a:cs typeface="Open Sans"/>
                <a:sym typeface="Open Sans"/>
              </a:rPr>
              <a:t>•</a:t>
            </a:r>
            <a:endParaRPr/>
          </a:p>
        </p:txBody>
      </p:sp>
      <p:sp>
        <p:nvSpPr>
          <p:cNvPr id="200" name="Google Shape;200;p17"/>
          <p:cNvSpPr txBox="1"/>
          <p:nvPr/>
        </p:nvSpPr>
        <p:spPr>
          <a:xfrm>
            <a:off x="8454925" y="3920579"/>
            <a:ext cx="2965549" cy="771525"/>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3333"/>
                </a:solidFill>
                <a:latin typeface="Open Sans"/>
                <a:ea typeface="Open Sans"/>
                <a:cs typeface="Open Sans"/>
                <a:sym typeface="Open Sans"/>
              </a:rPr>
              <a:t>Hardware-in-Loop:</a:t>
            </a:r>
            <a:r>
              <a:rPr lang="en-US" sz="1350" b="0" i="0" u="none" strike="noStrike" cap="none">
                <a:solidFill>
                  <a:srgbClr val="444444"/>
                </a:solidFill>
                <a:latin typeface="Open Sans"/>
                <a:ea typeface="Open Sans"/>
                <a:cs typeface="Open Sans"/>
                <a:sym typeface="Open Sans"/>
              </a:rPr>
              <a:t> Mobile phone used as a physical "Black Hole" node.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4"/>
        <p:cNvGrpSpPr/>
        <p:nvPr/>
      </p:nvGrpSpPr>
      <p:grpSpPr>
        <a:xfrm>
          <a:off x="0" y="0"/>
          <a:ext cx="0" cy="0"/>
          <a:chOff x="0" y="0"/>
          <a:chExt cx="0" cy="0"/>
        </a:xfrm>
      </p:grpSpPr>
      <p:pic>
        <p:nvPicPr>
          <p:cNvPr id="205" name="Google Shape;205;p18" descr="image.png"/>
          <p:cNvPicPr preferRelativeResize="0"/>
          <p:nvPr/>
        </p:nvPicPr>
        <p:blipFill rotWithShape="1">
          <a:blip r:embed="rId3">
            <a:alphaModFix/>
          </a:blip>
          <a:srcRect/>
          <a:stretch/>
        </p:blipFill>
        <p:spPr>
          <a:xfrm>
            <a:off x="0" y="6477000"/>
            <a:ext cx="12192000" cy="381000"/>
          </a:xfrm>
          <a:prstGeom prst="rect">
            <a:avLst/>
          </a:prstGeom>
          <a:noFill/>
          <a:ln>
            <a:noFill/>
          </a:ln>
        </p:spPr>
      </p:pic>
      <p:pic>
        <p:nvPicPr>
          <p:cNvPr id="206" name="Google Shape;206;p18" descr="image.png"/>
          <p:cNvPicPr preferRelativeResize="0"/>
          <p:nvPr/>
        </p:nvPicPr>
        <p:blipFill rotWithShape="1">
          <a:blip r:embed="rId4">
            <a:alphaModFix/>
          </a:blip>
          <a:srcRect/>
          <a:stretch/>
        </p:blipFill>
        <p:spPr>
          <a:xfrm>
            <a:off x="1404937" y="1657350"/>
            <a:ext cx="428625" cy="428625"/>
          </a:xfrm>
          <a:prstGeom prst="rect">
            <a:avLst/>
          </a:prstGeom>
          <a:noFill/>
          <a:ln>
            <a:noFill/>
          </a:ln>
        </p:spPr>
      </p:pic>
      <p:pic>
        <p:nvPicPr>
          <p:cNvPr id="207" name="Google Shape;207;p18" descr="image.png"/>
          <p:cNvPicPr preferRelativeResize="0"/>
          <p:nvPr/>
        </p:nvPicPr>
        <p:blipFill rotWithShape="1">
          <a:blip r:embed="rId5">
            <a:alphaModFix/>
          </a:blip>
          <a:srcRect/>
          <a:stretch/>
        </p:blipFill>
        <p:spPr>
          <a:xfrm>
            <a:off x="4389387" y="1657350"/>
            <a:ext cx="428625" cy="428625"/>
          </a:xfrm>
          <a:prstGeom prst="rect">
            <a:avLst/>
          </a:prstGeom>
          <a:noFill/>
          <a:ln>
            <a:noFill/>
          </a:ln>
        </p:spPr>
      </p:pic>
      <p:pic>
        <p:nvPicPr>
          <p:cNvPr id="208" name="Google Shape;208;p18" descr="image.png"/>
          <p:cNvPicPr preferRelativeResize="0"/>
          <p:nvPr/>
        </p:nvPicPr>
        <p:blipFill rotWithShape="1">
          <a:blip r:embed="rId6">
            <a:alphaModFix/>
          </a:blip>
          <a:srcRect/>
          <a:stretch/>
        </p:blipFill>
        <p:spPr>
          <a:xfrm>
            <a:off x="7373838" y="1657350"/>
            <a:ext cx="428625" cy="428625"/>
          </a:xfrm>
          <a:prstGeom prst="rect">
            <a:avLst/>
          </a:prstGeom>
          <a:noFill/>
          <a:ln>
            <a:noFill/>
          </a:ln>
        </p:spPr>
      </p:pic>
      <p:pic>
        <p:nvPicPr>
          <p:cNvPr id="209" name="Google Shape;209;p18" descr="image.png"/>
          <p:cNvPicPr preferRelativeResize="0"/>
          <p:nvPr/>
        </p:nvPicPr>
        <p:blipFill rotWithShape="1">
          <a:blip r:embed="rId7">
            <a:alphaModFix/>
          </a:blip>
          <a:srcRect/>
          <a:stretch/>
        </p:blipFill>
        <p:spPr>
          <a:xfrm>
            <a:off x="10358288" y="1657350"/>
            <a:ext cx="428625" cy="428625"/>
          </a:xfrm>
          <a:prstGeom prst="rect">
            <a:avLst/>
          </a:prstGeom>
          <a:noFill/>
          <a:ln>
            <a:noFill/>
          </a:ln>
        </p:spPr>
      </p:pic>
      <p:pic>
        <p:nvPicPr>
          <p:cNvPr id="210" name="Google Shape;210;p18" descr="image.png"/>
          <p:cNvPicPr preferRelativeResize="0"/>
          <p:nvPr/>
        </p:nvPicPr>
        <p:blipFill rotWithShape="1">
          <a:blip r:embed="rId8">
            <a:alphaModFix/>
          </a:blip>
          <a:srcRect/>
          <a:stretch/>
        </p:blipFill>
        <p:spPr>
          <a:xfrm>
            <a:off x="571500" y="1657350"/>
            <a:ext cx="2095500" cy="1843385"/>
          </a:xfrm>
          <a:prstGeom prst="rect">
            <a:avLst/>
          </a:prstGeom>
          <a:noFill/>
          <a:ln>
            <a:noFill/>
          </a:ln>
        </p:spPr>
      </p:pic>
      <p:pic>
        <p:nvPicPr>
          <p:cNvPr id="211" name="Google Shape;211;p18" descr="image.png"/>
          <p:cNvPicPr preferRelativeResize="0"/>
          <p:nvPr/>
        </p:nvPicPr>
        <p:blipFill rotWithShape="1">
          <a:blip r:embed="rId9">
            <a:alphaModFix/>
          </a:blip>
          <a:srcRect/>
          <a:stretch/>
        </p:blipFill>
        <p:spPr>
          <a:xfrm>
            <a:off x="3555950" y="1657350"/>
            <a:ext cx="2095500" cy="1843385"/>
          </a:xfrm>
          <a:prstGeom prst="rect">
            <a:avLst/>
          </a:prstGeom>
          <a:noFill/>
          <a:ln>
            <a:noFill/>
          </a:ln>
        </p:spPr>
      </p:pic>
      <p:pic>
        <p:nvPicPr>
          <p:cNvPr id="212" name="Google Shape;212;p18" descr="image.png"/>
          <p:cNvPicPr preferRelativeResize="0"/>
          <p:nvPr/>
        </p:nvPicPr>
        <p:blipFill rotWithShape="1">
          <a:blip r:embed="rId10">
            <a:alphaModFix/>
          </a:blip>
          <a:srcRect/>
          <a:stretch/>
        </p:blipFill>
        <p:spPr>
          <a:xfrm>
            <a:off x="6540400" y="1657350"/>
            <a:ext cx="2095500" cy="1843385"/>
          </a:xfrm>
          <a:prstGeom prst="rect">
            <a:avLst/>
          </a:prstGeom>
          <a:noFill/>
          <a:ln>
            <a:noFill/>
          </a:ln>
        </p:spPr>
      </p:pic>
      <p:pic>
        <p:nvPicPr>
          <p:cNvPr id="213" name="Google Shape;213;p18" descr="image.png"/>
          <p:cNvPicPr preferRelativeResize="0"/>
          <p:nvPr/>
        </p:nvPicPr>
        <p:blipFill rotWithShape="1">
          <a:blip r:embed="rId10">
            <a:alphaModFix/>
          </a:blip>
          <a:srcRect/>
          <a:stretch/>
        </p:blipFill>
        <p:spPr>
          <a:xfrm>
            <a:off x="9524851" y="1657350"/>
            <a:ext cx="2095500" cy="1843385"/>
          </a:xfrm>
          <a:prstGeom prst="rect">
            <a:avLst/>
          </a:prstGeom>
          <a:noFill/>
          <a:ln>
            <a:noFill/>
          </a:ln>
        </p:spPr>
      </p:pic>
      <p:sp>
        <p:nvSpPr>
          <p:cNvPr id="214" name="Google Shape;214;p18"/>
          <p:cNvSpPr txBox="1"/>
          <p:nvPr/>
        </p:nvSpPr>
        <p:spPr>
          <a:xfrm>
            <a:off x="571500" y="38100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333333"/>
                </a:solidFill>
                <a:latin typeface="Merriweather"/>
                <a:ea typeface="Merriweather"/>
                <a:cs typeface="Merriweather"/>
                <a:sym typeface="Merriweather"/>
              </a:rPr>
              <a:t>Project Work Plan</a:t>
            </a:r>
            <a:endParaRPr/>
          </a:p>
        </p:txBody>
      </p:sp>
      <p:sp>
        <p:nvSpPr>
          <p:cNvPr id="215" name="Google Shape;215;p18"/>
          <p:cNvSpPr/>
          <p:nvPr/>
        </p:nvSpPr>
        <p:spPr>
          <a:xfrm>
            <a:off x="571500" y="92392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18"/>
          <p:cNvSpPr txBox="1"/>
          <p:nvPr/>
        </p:nvSpPr>
        <p:spPr>
          <a:xfrm>
            <a:off x="381000" y="6581775"/>
            <a:ext cx="3714750"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66666"/>
                </a:solidFill>
                <a:latin typeface="Open Sans"/>
                <a:ea typeface="Open Sans"/>
                <a:cs typeface="Open Sans"/>
                <a:sym typeface="Open Sans"/>
              </a:rPr>
              <a:t>Design and Implementation of Black Hole Attack Detection</a:t>
            </a:r>
            <a:endParaRPr/>
          </a:p>
        </p:txBody>
      </p:sp>
      <p:sp>
        <p:nvSpPr>
          <p:cNvPr id="217" name="Google Shape;217;p18"/>
          <p:cNvSpPr txBox="1"/>
          <p:nvPr/>
        </p:nvSpPr>
        <p:spPr>
          <a:xfrm>
            <a:off x="11734800" y="6581775"/>
            <a:ext cx="76200"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66666"/>
                </a:solidFill>
                <a:latin typeface="Open Sans"/>
                <a:ea typeface="Open Sans"/>
                <a:cs typeface="Open Sans"/>
                <a:sym typeface="Open Sans"/>
              </a:rPr>
              <a:t>6</a:t>
            </a:r>
            <a:endParaRPr/>
          </a:p>
        </p:txBody>
      </p:sp>
      <p:sp>
        <p:nvSpPr>
          <p:cNvPr id="218" name="Google Shape;218;p18"/>
          <p:cNvSpPr/>
          <p:nvPr/>
        </p:nvSpPr>
        <p:spPr>
          <a:xfrm>
            <a:off x="1047750" y="2559992"/>
            <a:ext cx="10096500" cy="38100"/>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9" name="Google Shape;219;p18"/>
          <p:cNvSpPr txBox="1"/>
          <p:nvPr/>
        </p:nvSpPr>
        <p:spPr>
          <a:xfrm>
            <a:off x="619125" y="2288530"/>
            <a:ext cx="2000250" cy="209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333333"/>
                </a:solidFill>
                <a:latin typeface="Open Sans"/>
                <a:ea typeface="Open Sans"/>
                <a:cs typeface="Open Sans"/>
                <a:sym typeface="Open Sans"/>
              </a:rPr>
              <a:t>Data Acquisition</a:t>
            </a:r>
            <a:endParaRPr/>
          </a:p>
        </p:txBody>
      </p:sp>
      <p:sp>
        <p:nvSpPr>
          <p:cNvPr id="220" name="Google Shape;220;p18"/>
          <p:cNvSpPr txBox="1"/>
          <p:nvPr/>
        </p:nvSpPr>
        <p:spPr>
          <a:xfrm>
            <a:off x="666750" y="2700635"/>
            <a:ext cx="1905000" cy="6858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2C3E50"/>
                </a:solidFill>
                <a:latin typeface="Open Sans"/>
                <a:ea typeface="Open Sans"/>
                <a:cs typeface="Open Sans"/>
                <a:sym typeface="Open Sans"/>
              </a:rPr>
              <a:t>Acquiring "MANET Blackhole Dataset" (Kaggle) &amp; NSL-KDD.</a:t>
            </a:r>
            <a:endParaRPr/>
          </a:p>
        </p:txBody>
      </p:sp>
      <p:sp>
        <p:nvSpPr>
          <p:cNvPr id="221" name="Google Shape;221;p18"/>
          <p:cNvSpPr txBox="1"/>
          <p:nvPr/>
        </p:nvSpPr>
        <p:spPr>
          <a:xfrm>
            <a:off x="3603575" y="2288530"/>
            <a:ext cx="2000250" cy="209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333333"/>
                </a:solidFill>
                <a:latin typeface="Open Sans"/>
                <a:ea typeface="Open Sans"/>
                <a:cs typeface="Open Sans"/>
                <a:sym typeface="Open Sans"/>
              </a:rPr>
              <a:t>Model Training</a:t>
            </a:r>
            <a:endParaRPr/>
          </a:p>
        </p:txBody>
      </p:sp>
      <p:sp>
        <p:nvSpPr>
          <p:cNvPr id="222" name="Google Shape;222;p18"/>
          <p:cNvSpPr txBox="1"/>
          <p:nvPr/>
        </p:nvSpPr>
        <p:spPr>
          <a:xfrm>
            <a:off x="3651200" y="2700635"/>
            <a:ext cx="1905000" cy="6858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2C3E50"/>
                </a:solidFill>
                <a:latin typeface="Open Sans"/>
                <a:ea typeface="Open Sans"/>
                <a:cs typeface="Open Sans"/>
                <a:sym typeface="Open Sans"/>
              </a:rPr>
              <a:t>Training the SVM-RBF binary classifier using Scikit-Learn.</a:t>
            </a:r>
            <a:endParaRPr/>
          </a:p>
        </p:txBody>
      </p:sp>
      <p:sp>
        <p:nvSpPr>
          <p:cNvPr id="223" name="Google Shape;223;p18"/>
          <p:cNvSpPr txBox="1"/>
          <p:nvPr/>
        </p:nvSpPr>
        <p:spPr>
          <a:xfrm>
            <a:off x="6588025" y="2288530"/>
            <a:ext cx="2000250" cy="209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333333"/>
                </a:solidFill>
                <a:latin typeface="Open Sans"/>
                <a:ea typeface="Open Sans"/>
                <a:cs typeface="Open Sans"/>
                <a:sym typeface="Open Sans"/>
              </a:rPr>
              <a:t>Live Sniffing</a:t>
            </a:r>
            <a:endParaRPr/>
          </a:p>
        </p:txBody>
      </p:sp>
      <p:sp>
        <p:nvSpPr>
          <p:cNvPr id="224" name="Google Shape;224;p18"/>
          <p:cNvSpPr txBox="1"/>
          <p:nvPr/>
        </p:nvSpPr>
        <p:spPr>
          <a:xfrm>
            <a:off x="6635650" y="2700635"/>
            <a:ext cx="1905000" cy="6858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2C3E50"/>
                </a:solidFill>
                <a:latin typeface="Open Sans"/>
                <a:ea typeface="Open Sans"/>
                <a:cs typeface="Open Sans"/>
                <a:sym typeface="Open Sans"/>
              </a:rPr>
              <a:t>Building the Scapy Bridge to capture and window live packets.</a:t>
            </a:r>
            <a:endParaRPr/>
          </a:p>
        </p:txBody>
      </p:sp>
      <p:sp>
        <p:nvSpPr>
          <p:cNvPr id="225" name="Google Shape;225;p18"/>
          <p:cNvSpPr txBox="1"/>
          <p:nvPr/>
        </p:nvSpPr>
        <p:spPr>
          <a:xfrm>
            <a:off x="9572476" y="2288530"/>
            <a:ext cx="2000250" cy="209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333333"/>
                </a:solidFill>
                <a:latin typeface="Open Sans"/>
                <a:ea typeface="Open Sans"/>
                <a:cs typeface="Open Sans"/>
                <a:sym typeface="Open Sans"/>
              </a:rPr>
              <a:t>UI Integration</a:t>
            </a:r>
            <a:endParaRPr/>
          </a:p>
        </p:txBody>
      </p:sp>
      <p:sp>
        <p:nvSpPr>
          <p:cNvPr id="226" name="Google Shape;226;p18"/>
          <p:cNvSpPr txBox="1"/>
          <p:nvPr/>
        </p:nvSpPr>
        <p:spPr>
          <a:xfrm>
            <a:off x="9620101" y="2700635"/>
            <a:ext cx="1905000" cy="6858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2C3E50"/>
                </a:solidFill>
                <a:latin typeface="Open Sans"/>
                <a:ea typeface="Open Sans"/>
                <a:cs typeface="Open Sans"/>
                <a:sym typeface="Open Sans"/>
              </a:rPr>
              <a:t>Linking model to Streamlit Dashboard for real-time red alerts.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0"/>
        <p:cNvGrpSpPr/>
        <p:nvPr/>
      </p:nvGrpSpPr>
      <p:grpSpPr>
        <a:xfrm>
          <a:off x="0" y="0"/>
          <a:ext cx="0" cy="0"/>
          <a:chOff x="0" y="0"/>
          <a:chExt cx="0" cy="0"/>
        </a:xfrm>
      </p:grpSpPr>
      <p:pic>
        <p:nvPicPr>
          <p:cNvPr id="231" name="Google Shape;231;p19" descr="image.png"/>
          <p:cNvPicPr preferRelativeResize="0"/>
          <p:nvPr/>
        </p:nvPicPr>
        <p:blipFill rotWithShape="1">
          <a:blip r:embed="rId3">
            <a:alphaModFix/>
          </a:blip>
          <a:srcRect/>
          <a:stretch/>
        </p:blipFill>
        <p:spPr>
          <a:xfrm>
            <a:off x="0" y="6477000"/>
            <a:ext cx="12192000" cy="381000"/>
          </a:xfrm>
          <a:prstGeom prst="rect">
            <a:avLst/>
          </a:prstGeom>
          <a:noFill/>
          <a:ln>
            <a:noFill/>
          </a:ln>
        </p:spPr>
      </p:pic>
      <p:sp>
        <p:nvSpPr>
          <p:cNvPr id="232" name="Google Shape;232;p19"/>
          <p:cNvSpPr txBox="1"/>
          <p:nvPr/>
        </p:nvSpPr>
        <p:spPr>
          <a:xfrm>
            <a:off x="571500" y="381000"/>
            <a:ext cx="11601450"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333333"/>
                </a:solidFill>
                <a:latin typeface="Merriweather"/>
                <a:ea typeface="Merriweather"/>
                <a:cs typeface="Merriweather"/>
                <a:sym typeface="Merriweather"/>
              </a:rPr>
              <a:t>References</a:t>
            </a:r>
            <a:endParaRPr/>
          </a:p>
        </p:txBody>
      </p:sp>
      <p:sp>
        <p:nvSpPr>
          <p:cNvPr id="233" name="Google Shape;233;p19"/>
          <p:cNvSpPr/>
          <p:nvPr/>
        </p:nvSpPr>
        <p:spPr>
          <a:xfrm>
            <a:off x="571500" y="923925"/>
            <a:ext cx="11049000" cy="19050"/>
          </a:xfrm>
          <a:prstGeom prst="rect">
            <a:avLst/>
          </a:prstGeom>
          <a:solidFill>
            <a:srgbClr val="3333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4" name="Google Shape;234;p19"/>
          <p:cNvSpPr txBox="1"/>
          <p:nvPr/>
        </p:nvSpPr>
        <p:spPr>
          <a:xfrm>
            <a:off x="381000" y="6581775"/>
            <a:ext cx="3714750"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66666"/>
                </a:solidFill>
                <a:latin typeface="Open Sans"/>
                <a:ea typeface="Open Sans"/>
                <a:cs typeface="Open Sans"/>
                <a:sym typeface="Open Sans"/>
              </a:rPr>
              <a:t>Design and Implementation of Black Hole Attack Detection</a:t>
            </a:r>
            <a:endParaRPr/>
          </a:p>
        </p:txBody>
      </p:sp>
      <p:sp>
        <p:nvSpPr>
          <p:cNvPr id="235" name="Google Shape;235;p19"/>
          <p:cNvSpPr txBox="1"/>
          <p:nvPr/>
        </p:nvSpPr>
        <p:spPr>
          <a:xfrm>
            <a:off x="11734800" y="6581775"/>
            <a:ext cx="76200"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66666"/>
                </a:solidFill>
                <a:latin typeface="Open Sans"/>
                <a:ea typeface="Open Sans"/>
                <a:cs typeface="Open Sans"/>
                <a:sym typeface="Open Sans"/>
              </a:rPr>
              <a:t>7</a:t>
            </a:r>
            <a:endParaRPr/>
          </a:p>
        </p:txBody>
      </p:sp>
      <p:sp>
        <p:nvSpPr>
          <p:cNvPr id="236" name="Google Shape;236;p19"/>
          <p:cNvSpPr txBox="1"/>
          <p:nvPr/>
        </p:nvSpPr>
        <p:spPr>
          <a:xfrm>
            <a:off x="904875" y="1085850"/>
            <a:ext cx="107156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444444"/>
                </a:solidFill>
                <a:latin typeface="Open Sans"/>
                <a:ea typeface="Open Sans"/>
                <a:cs typeface="Open Sans"/>
                <a:sym typeface="Open Sans"/>
              </a:rPr>
              <a:t>S. Abdallah et al., "Enhancing Mobile Ad Hoc Network Security: An Anomaly Detection Approach Using Support Vector Machine for Black-Hole Attack Detection," </a:t>
            </a:r>
            <a:r>
              <a:rPr lang="en-US" sz="1350" b="0" i="1" u="none" strike="noStrike" cap="none">
                <a:solidFill>
                  <a:srgbClr val="444444"/>
                </a:solidFill>
                <a:latin typeface="Open Sans"/>
                <a:ea typeface="Open Sans"/>
                <a:cs typeface="Open Sans"/>
                <a:sym typeface="Open Sans"/>
              </a:rPr>
              <a:t>International Journal of Safety and Security Engineering</a:t>
            </a:r>
            <a:r>
              <a:rPr lang="en-US" sz="1350" b="0" i="0" u="none" strike="noStrike" cap="none">
                <a:solidFill>
                  <a:srgbClr val="444444"/>
                </a:solidFill>
                <a:latin typeface="Open Sans"/>
                <a:ea typeface="Open Sans"/>
                <a:cs typeface="Open Sans"/>
                <a:sym typeface="Open Sans"/>
              </a:rPr>
              <a:t>, vol. 14, no. 4, pp. 1015-1028, 2024.</a:t>
            </a:r>
            <a:endParaRPr/>
          </a:p>
        </p:txBody>
      </p:sp>
      <p:sp>
        <p:nvSpPr>
          <p:cNvPr id="237" name="Google Shape;237;p19"/>
          <p:cNvSpPr txBox="1"/>
          <p:nvPr/>
        </p:nvSpPr>
        <p:spPr>
          <a:xfrm>
            <a:off x="904875" y="1790700"/>
            <a:ext cx="107156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444444"/>
                </a:solidFill>
                <a:latin typeface="Open Sans"/>
                <a:ea typeface="Open Sans"/>
                <a:cs typeface="Open Sans"/>
                <a:sym typeface="Open Sans"/>
              </a:rPr>
              <a:t>M. Tavallaee et al., "A detailed analysis of the KDD CUP 99 data set (NSL-KDD)," in </a:t>
            </a:r>
            <a:r>
              <a:rPr lang="en-US" sz="1350" b="0" i="1" u="none" strike="noStrike" cap="none">
                <a:solidFill>
                  <a:srgbClr val="444444"/>
                </a:solidFill>
                <a:latin typeface="Open Sans"/>
                <a:ea typeface="Open Sans"/>
                <a:cs typeface="Open Sans"/>
                <a:sym typeface="Open Sans"/>
              </a:rPr>
              <a:t>IEEE Symposium on Computational Intelligence for Security and Defense Applications</a:t>
            </a:r>
            <a:r>
              <a:rPr lang="en-US" sz="1350" b="0" i="0" u="none" strike="noStrike" cap="none">
                <a:solidFill>
                  <a:srgbClr val="444444"/>
                </a:solidFill>
                <a:latin typeface="Open Sans"/>
                <a:ea typeface="Open Sans"/>
                <a:cs typeface="Open Sans"/>
                <a:sym typeface="Open Sans"/>
              </a:rPr>
              <a:t>, 2009.</a:t>
            </a:r>
            <a:endParaRPr/>
          </a:p>
        </p:txBody>
      </p:sp>
      <p:sp>
        <p:nvSpPr>
          <p:cNvPr id="238" name="Google Shape;238;p19"/>
          <p:cNvSpPr txBox="1"/>
          <p:nvPr/>
        </p:nvSpPr>
        <p:spPr>
          <a:xfrm>
            <a:off x="904875" y="2495550"/>
            <a:ext cx="1071562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444444"/>
                </a:solidFill>
                <a:latin typeface="Open Sans"/>
                <a:ea typeface="Open Sans"/>
                <a:cs typeface="Open Sans"/>
                <a:sym typeface="Open Sans"/>
              </a:rPr>
              <a:t>Kaggle Repositories, "MANET Blackhole Attack Dataset," [Online]. Available: https://www.kaggle.com/</a:t>
            </a:r>
            <a:endParaRPr/>
          </a:p>
        </p:txBody>
      </p:sp>
      <p:sp>
        <p:nvSpPr>
          <p:cNvPr id="239" name="Google Shape;239;p19"/>
          <p:cNvSpPr txBox="1"/>
          <p:nvPr/>
        </p:nvSpPr>
        <p:spPr>
          <a:xfrm>
            <a:off x="904875" y="2943225"/>
            <a:ext cx="1071562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444444"/>
                </a:solidFill>
                <a:latin typeface="Open Sans"/>
                <a:ea typeface="Open Sans"/>
                <a:cs typeface="Open Sans"/>
                <a:sym typeface="Open Sans"/>
              </a:rPr>
              <a:t>Scapy Documentation, "Interactive Packet Manipulation Program," [Online]. Available: https://scapy.net/</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946</Words>
  <Application>Microsoft Office PowerPoint</Application>
  <PresentationFormat>Widescreen</PresentationFormat>
  <Paragraphs>91</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Open Sans SemiBold</vt:lpstr>
      <vt:lpstr>Arial</vt:lpstr>
      <vt:lpstr>Merriweather</vt:lpstr>
      <vt:lpstr>Calibri</vt:lpstr>
      <vt:lpstr>Open Sans</vt:lpstr>
      <vt:lpstr>Merriweather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Dhiyaneshwar Vedagiri</cp:lastModifiedBy>
  <cp:revision>2</cp:revision>
  <dcterms:modified xsi:type="dcterms:W3CDTF">2026-02-16T09:57:43Z</dcterms:modified>
</cp:coreProperties>
</file>